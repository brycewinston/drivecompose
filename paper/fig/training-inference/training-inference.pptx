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457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44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raining-heading"/>
          <p:cNvSpPr txBox="1"/>
          <p:nvPr/>
        </p:nvSpPr>
        <p:spPr>
          <a:xfrm>
            <a:off x="254000" y="63500"/>
            <a:ext cx="5207000" cy="429895"/>
          </a:xfrm>
          <a:prstGeom prst="rect">
            <a:avLst/>
          </a:prstGeom>
          <a:noFill/>
        </p:spPr>
        <p:txBody>
          <a:bodyPr wrap="square" lIns="0" tIns="0" bIns="0" rtlCol="0" anchor="t">
            <a:noAutofit/>
          </a:bodyPr>
          <a:p>
            <a:r>
              <a:rPr lang="en-US" altLang="en-US" sz="2200" b="1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Four-stage training</a:t>
            </a:r>
            <a:endParaRPr lang="en-US" altLang="en-US" sz="2200" b="1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raining-legend"/>
          <p:cNvSpPr txBox="1"/>
          <p:nvPr/>
        </p:nvSpPr>
        <p:spPr>
          <a:xfrm>
            <a:off x="5588000" y="101600"/>
            <a:ext cx="6350000" cy="352425"/>
          </a:xfrm>
          <a:prstGeom prst="rect">
            <a:avLst/>
          </a:prstGeom>
          <a:noFill/>
        </p:spPr>
        <p:txBody>
          <a:bodyPr wrap="square" lIns="0" tIns="0" bIns="0" rtlCol="0" anchor="t">
            <a:noAutofit/>
          </a:bodyPr>
          <a:p>
            <a:pPr algn="r"/>
            <a:r>
              <a:rPr lang="en-US" altLang="en-US" sz="1700">
                <a:solidFill>
                  <a:srgbClr val="5261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Train: updated     Frozen: fixed     —: unused</a:t>
            </a:r>
            <a:endParaRPr lang="en-US" altLang="en-US" sz="1700">
              <a:solidFill>
                <a:srgbClr val="5261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raining-stages"/>
          <p:cNvGraphicFramePr/>
          <p:nvPr/>
        </p:nvGraphicFramePr>
        <p:xfrm>
          <a:off x="254000" y="457200"/>
          <a:ext cx="11684000" cy="28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308100"/>
                <a:gridCol w="1143000"/>
                <a:gridCol w="1016000"/>
                <a:gridCol w="6337300"/>
              </a:tblGrid>
              <a:tr h="355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Codec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GCM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Supervision / target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 Recovery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1">
                          <a:solidFill>
                            <a:srgbClr val="165C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</a:t>
                      </a:r>
                      <a:endParaRPr lang="en-US" altLang="en-US" sz="1800" b="1">
                        <a:solidFill>
                          <a:srgbClr val="165C3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Geometry, semantics, identity and actor states</a:t>
                      </a:r>
                      <a:endParaRPr lang="en-US" altLang="en-US" sz="1800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Codec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Frozen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1">
                          <a:solidFill>
                            <a:srgbClr val="165C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</a:t>
                      </a:r>
                      <a:endParaRPr lang="en-US" altLang="en-US" sz="1800" b="1">
                        <a:solidFill>
                          <a:srgbClr val="165C3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Partial / complete observations on one query layout</a:t>
                      </a:r>
                      <a:endParaRPr lang="en-US" altLang="en-US" sz="1800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 Prior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Frozen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Frozen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1">
                          <a:solidFill>
                            <a:srgbClr val="165C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</a:t>
                      </a:r>
                      <a:endParaRPr lang="en-US" altLang="en-US" sz="1800" b="1">
                        <a:solidFill>
                          <a:srgbClr val="165C3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targets for every unknown query; flow matching</a:t>
                      </a:r>
                      <a:endParaRPr lang="en-US" altLang="en-US" sz="1800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 Adaptation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Frozen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Frozen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1">
                          <a:solidFill>
                            <a:srgbClr val="165C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</a:t>
                      </a:r>
                      <a:endParaRPr lang="en-US" altLang="en-US" sz="1800" b="1">
                        <a:solidFill>
                          <a:srgbClr val="165C3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>
                          <a:solidFill>
                            <a:srgbClr val="182D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logs: integrate → decode → render</a:t>
                      </a:r>
                      <a:endParaRPr lang="en-US" altLang="en-US" sz="1800">
                        <a:solidFill>
                          <a:srgbClr val="182D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inference-heading"/>
          <p:cNvSpPr txBox="1"/>
          <p:nvPr/>
        </p:nvSpPr>
        <p:spPr>
          <a:xfrm>
            <a:off x="254000" y="2768600"/>
            <a:ext cx="8382000" cy="368300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en-US" sz="2200" b="1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Inference: construct once, reuse by state</a:t>
            </a:r>
            <a:endParaRPr lang="en-US" altLang="en-US" sz="2200" b="1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log"/>
          <p:cNvSpPr txBox="1"/>
          <p:nvPr/>
        </p:nvSpPr>
        <p:spPr>
          <a:xfrm>
            <a:off x="254000" y="3390900"/>
            <a:ext cx="1016000" cy="584200"/>
          </a:xfrm>
          <a:prstGeom prst="rect">
            <a:avLst/>
          </a:prstGeom>
          <a:solidFill>
            <a:srgbClr val="F3F5F8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log</a:t>
            </a:r>
            <a:endParaRPr lang="en-US" altLang="en-US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over-encode"/>
          <p:cNvSpPr txBox="1"/>
          <p:nvPr/>
        </p:nvSpPr>
        <p:spPr>
          <a:xfrm>
            <a:off x="1587500" y="3390900"/>
            <a:ext cx="1714500" cy="584200"/>
          </a:xfrm>
          <a:prstGeom prst="rect">
            <a:avLst/>
          </a:prstGeom>
          <a:solidFill>
            <a:srgbClr val="E7EDF7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+
encode</a:t>
            </a:r>
            <a:endParaRPr lang="en-US" altLang="en-US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mplete"/>
          <p:cNvSpPr txBox="1"/>
          <p:nvPr/>
        </p:nvSpPr>
        <p:spPr>
          <a:xfrm>
            <a:off x="3619500" y="3390900"/>
            <a:ext cx="1460500" cy="584200"/>
          </a:xfrm>
          <a:prstGeom prst="rect">
            <a:avLst/>
          </a:prstGeom>
          <a:solidFill>
            <a:srgbClr val="EDE7F5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
unknowns</a:t>
            </a:r>
            <a:endParaRPr lang="en-US" altLang="en-US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decode"/>
          <p:cNvSpPr txBox="1"/>
          <p:nvPr/>
        </p:nvSpPr>
        <p:spPr>
          <a:xfrm>
            <a:off x="5397500" y="3390900"/>
            <a:ext cx="1270000" cy="584200"/>
          </a:xfrm>
          <a:prstGeom prst="rect">
            <a:avLst/>
          </a:prstGeom>
          <a:solidFill>
            <a:srgbClr val="E7EDF7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</a:t>
            </a:r>
            <a:endParaRPr lang="en-US" altLang="en-US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heck"/>
          <p:cNvSpPr txBox="1"/>
          <p:nvPr/>
        </p:nvSpPr>
        <p:spPr>
          <a:xfrm>
            <a:off x="6985000" y="3390900"/>
            <a:ext cx="1397000" cy="584200"/>
          </a:xfrm>
          <a:prstGeom prst="rect">
            <a:avLst/>
          </a:prstGeom>
          <a:solidFill>
            <a:srgbClr val="F8EDE2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
input views</a:t>
            </a:r>
            <a:endParaRPr lang="en-US" altLang="en-US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ixed-scene"/>
          <p:cNvSpPr txBox="1"/>
          <p:nvPr/>
        </p:nvSpPr>
        <p:spPr>
          <a:xfrm>
            <a:off x="8699500" y="3390900"/>
            <a:ext cx="1397000" cy="584200"/>
          </a:xfrm>
          <a:prstGeom prst="rect">
            <a:avLst/>
          </a:prstGeom>
          <a:solidFill>
            <a:srgbClr val="E4EDF1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Accepted
fixed scene</a:t>
            </a:r>
            <a:endParaRPr lang="en-US" altLang="en-US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nder"/>
          <p:cNvSpPr txBox="1"/>
          <p:nvPr/>
        </p:nvSpPr>
        <p:spPr>
          <a:xfrm>
            <a:off x="10414000" y="3390900"/>
            <a:ext cx="1524000" cy="584200"/>
          </a:xfrm>
          <a:prstGeom prst="rect">
            <a:avLst/>
          </a:prstGeom>
          <a:solidFill>
            <a:srgbClr val="D8EBDD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</a:t>
            </a:r>
            <a:endParaRPr lang="en-US" altLang="en-US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flow-0"/>
          <p:cNvCxnSpPr>
            <a:stCxn id="6" idx="3"/>
            <a:endCxn id="7" idx="1"/>
          </p:cNvCxnSpPr>
          <p:nvPr/>
        </p:nvCxnSpPr>
        <p:spPr>
          <a:xfrm>
            <a:off x="1270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flow-1"/>
          <p:cNvCxnSpPr>
            <a:stCxn id="7" idx="3"/>
            <a:endCxn id="8" idx="1"/>
          </p:cNvCxnSpPr>
          <p:nvPr/>
        </p:nvCxnSpPr>
        <p:spPr>
          <a:xfrm>
            <a:off x="3302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flow-2"/>
          <p:cNvCxnSpPr>
            <a:stCxn id="8" idx="3"/>
            <a:endCxn id="9" idx="1"/>
          </p:cNvCxnSpPr>
          <p:nvPr/>
        </p:nvCxnSpPr>
        <p:spPr>
          <a:xfrm>
            <a:off x="5080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flow-3"/>
          <p:cNvCxnSpPr>
            <a:stCxn id="9" idx="3"/>
            <a:endCxn id="10" idx="1"/>
          </p:cNvCxnSpPr>
          <p:nvPr/>
        </p:nvCxnSpPr>
        <p:spPr>
          <a:xfrm>
            <a:off x="66675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flow-4"/>
          <p:cNvCxnSpPr>
            <a:stCxn id="10" idx="3"/>
            <a:endCxn id="11" idx="1"/>
          </p:cNvCxnSpPr>
          <p:nvPr/>
        </p:nvCxnSpPr>
        <p:spPr>
          <a:xfrm>
            <a:off x="8382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flow-5"/>
          <p:cNvCxnSpPr>
            <a:stCxn id="11" idx="3"/>
            <a:endCxn id="12" idx="1"/>
          </p:cNvCxnSpPr>
          <p:nvPr/>
        </p:nvCxnSpPr>
        <p:spPr>
          <a:xfrm>
            <a:off x="100965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tate-input"/>
          <p:cNvSpPr txBox="1"/>
          <p:nvPr/>
        </p:nvSpPr>
        <p:spPr>
          <a:xfrm>
            <a:off x="10236200" y="2717800"/>
            <a:ext cx="1879600" cy="558800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en-US" sz="1700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Camera / actor
states</a:t>
            </a:r>
            <a:endParaRPr lang="en-US" altLang="en-US" sz="1700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ate-to-render"/>
          <p:cNvCxnSpPr>
            <a:stCxn id="19" idx="2"/>
            <a:endCxn id="12" idx="0"/>
          </p:cNvCxnSpPr>
          <p:nvPr/>
        </p:nvCxnSpPr>
        <p:spPr>
          <a:xfrm>
            <a:off x="11176000" y="3276600"/>
            <a:ext cx="0" cy="11430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nference-note"/>
          <p:cNvSpPr txBox="1"/>
          <p:nvPr/>
        </p:nvSpPr>
        <p:spPr>
          <a:xfrm>
            <a:off x="254000" y="4140200"/>
            <a:ext cx="11684000" cy="317500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en-US" sz="1700">
                <a:solidFill>
                  <a:srgbClr val="182D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check uses recorded cameras and actor states; accepted content is reused without resampling.</a:t>
            </a:r>
            <a:endParaRPr lang="en-US" altLang="en-US" sz="1700">
              <a:solidFill>
                <a:srgbClr val="182D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raining-heading"/>
          <p:cNvSpPr txBox="1"/>
          <p:nvPr/>
        </p:nvSpPr>
        <p:spPr>
          <a:xfrm>
            <a:off x="254000" y="63500"/>
            <a:ext cx="5207000" cy="429895"/>
          </a:xfrm>
          <a:prstGeom prst="rect">
            <a:avLst/>
          </a:prstGeom>
          <a:noFill/>
        </p:spPr>
        <p:txBody>
          <a:bodyPr wrap="square" lIns="0" tIns="0" bIns="0" rtlCol="0" anchor="t">
            <a:noAutofit/>
          </a:bodyPr>
          <a:p>
            <a:r>
              <a:rPr lang="en-US" altLang="en-US" sz="2200" b="1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</a:t>
            </a:r>
            <a:r>
              <a:rPr lang="zh-CN" altLang="en-US" sz="2200" b="1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四阶段训练</a:t>
            </a:r>
            <a:endParaRPr lang="zh-CN" altLang="en-US" sz="2200" b="1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raining-legend"/>
          <p:cNvSpPr txBox="1"/>
          <p:nvPr/>
        </p:nvSpPr>
        <p:spPr>
          <a:xfrm>
            <a:off x="5588000" y="101600"/>
            <a:ext cx="6350000" cy="352425"/>
          </a:xfrm>
          <a:prstGeom prst="rect">
            <a:avLst/>
          </a:prstGeom>
          <a:noFill/>
        </p:spPr>
        <p:txBody>
          <a:bodyPr wrap="square" lIns="0" tIns="0" bIns="0" rtlCol="0" anchor="t">
            <a:noAutofit/>
          </a:bodyPr>
          <a:p>
            <a:pPr algn="r"/>
            <a:r>
              <a:rPr lang="zh-CN" altLang="en-US" sz="1700">
                <a:solidFill>
                  <a:srgbClr val="52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训练：更新参数</a:t>
            </a:r>
            <a:r>
              <a:rPr lang="en-US" altLang="zh-CN" sz="1700">
                <a:solidFill>
                  <a:srgbClr val="52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700">
                <a:solidFill>
                  <a:srgbClr val="52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冻结：参数固定</a:t>
            </a:r>
            <a:r>
              <a:rPr lang="en-US" altLang="zh-CN" sz="1700">
                <a:solidFill>
                  <a:srgbClr val="52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—</a:t>
            </a:r>
            <a:r>
              <a:rPr lang="zh-CN" altLang="en-US" sz="1700">
                <a:solidFill>
                  <a:srgbClr val="5261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：未使用</a:t>
            </a:r>
            <a:endParaRPr lang="zh-CN" altLang="en-US" sz="1700">
              <a:solidFill>
                <a:srgbClr val="5261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training-stages"/>
          <p:cNvGraphicFramePr/>
          <p:nvPr/>
        </p:nvGraphicFramePr>
        <p:xfrm>
          <a:off x="254000" y="457200"/>
          <a:ext cx="11684000" cy="28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308100"/>
                <a:gridCol w="1143000"/>
                <a:gridCol w="1016000"/>
                <a:gridCol w="6337300"/>
              </a:tblGrid>
              <a:tr h="355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阶段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恢复模块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编解码器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GCM</a:t>
                      </a:r>
                      <a:endParaRPr lang="en-US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监督</a:t>
                      </a:r>
                      <a:r>
                        <a:rPr lang="en-US" altLang="zh-CN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6ECF3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 </a:t>
                      </a: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视觉恢复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65C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训练</a:t>
                      </a:r>
                      <a:endParaRPr lang="zh-CN" altLang="en-US" sz="1800" b="1">
                        <a:solidFill>
                          <a:srgbClr val="165C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—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—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几何、语义、身份与资产状态标注</a:t>
                      </a:r>
                      <a:endParaRPr lang="zh-CN" altLang="en-US" sz="1800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 </a:t>
                      </a: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表示拟合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冻结</a:t>
                      </a:r>
                      <a:endParaRPr lang="zh-CN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65C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训练</a:t>
                      </a:r>
                      <a:endParaRPr lang="zh-CN" altLang="en-US" sz="1800" b="1">
                        <a:solidFill>
                          <a:srgbClr val="165C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—</a:t>
                      </a:r>
                      <a:endParaRPr lang="en-US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部分输入与更完整观测使用同一查询布局</a:t>
                      </a:r>
                      <a:endParaRPr lang="zh-CN" altLang="en-US" sz="1800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 </a:t>
                      </a: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补全先验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冻结</a:t>
                      </a:r>
                      <a:endParaRPr lang="zh-CN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冻结</a:t>
                      </a:r>
                      <a:endParaRPr lang="zh-CN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65C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训练</a:t>
                      </a:r>
                      <a:endParaRPr lang="zh-CN" altLang="en-US" sz="1800" b="1">
                        <a:solidFill>
                          <a:srgbClr val="165C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每个未知查询都有有效完整目标；流匹配训练</a:t>
                      </a:r>
                      <a:endParaRPr lang="zh-CN" altLang="en-US" sz="1800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 </a:t>
                      </a:r>
                      <a:r>
                        <a:rPr lang="zh-CN" altLang="en-US" sz="1800" b="1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渲染适配</a:t>
                      </a:r>
                      <a:endParaRPr lang="zh-CN" altLang="en-US" sz="1800" b="1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冻结</a:t>
                      </a:r>
                      <a:endParaRPr lang="zh-CN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rgbClr val="52617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冻结</a:t>
                      </a:r>
                      <a:endParaRPr lang="zh-CN" altLang="en-US" sz="1800" b="0">
                        <a:solidFill>
                          <a:srgbClr val="52617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65C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训练</a:t>
                      </a:r>
                      <a:endParaRPr lang="zh-CN" altLang="en-US" sz="1800" b="1">
                        <a:solidFill>
                          <a:srgbClr val="165C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D8EBD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真实日志：流积分</a:t>
                      </a:r>
                      <a:r>
                        <a:rPr lang="en-US" altLang="zh-CN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→ </a:t>
                      </a:r>
                      <a:r>
                        <a:rPr lang="zh-CN" altLang="en-US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解码</a:t>
                      </a:r>
                      <a:r>
                        <a:rPr lang="en-US" altLang="zh-CN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→ </a:t>
                      </a:r>
                      <a:r>
                        <a:rPr lang="zh-CN" altLang="en-US" sz="1800">
                          <a:solidFill>
                            <a:srgbClr val="182D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渲染</a:t>
                      </a:r>
                      <a:endParaRPr lang="zh-CN" altLang="en-US" sz="1800">
                        <a:solidFill>
                          <a:srgbClr val="182D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 anchor="ctr">
                    <a:lnL w="7620" cmpd="sng">
                      <a:solidFill>
                        <a:srgbClr val="D2DAE3"/>
                      </a:solidFill>
                    </a:lnL>
                    <a:lnR w="7620" cmpd="sng">
                      <a:solidFill>
                        <a:srgbClr val="D2DAE3"/>
                      </a:solidFill>
                    </a:lnR>
                    <a:lnT w="7620" cmpd="sng">
                      <a:solidFill>
                        <a:srgbClr val="D2DAE3"/>
                      </a:solidFill>
                    </a:lnT>
                    <a:lnB w="7620" cmpd="sng">
                      <a:solidFill>
                        <a:srgbClr val="D2DA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inference-heading"/>
          <p:cNvSpPr txBox="1"/>
          <p:nvPr/>
        </p:nvSpPr>
        <p:spPr>
          <a:xfrm>
            <a:off x="254000" y="2768600"/>
            <a:ext cx="8382000" cy="368300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en-US" sz="2200" b="1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 </a:t>
            </a:r>
            <a:r>
              <a:rPr lang="zh-CN" altLang="en-US" sz="2200" b="1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推理：构建一次，按状态复用</a:t>
            </a:r>
            <a:endParaRPr lang="zh-CN" altLang="en-US" sz="2200" b="1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og"/>
          <p:cNvSpPr txBox="1"/>
          <p:nvPr/>
        </p:nvSpPr>
        <p:spPr>
          <a:xfrm>
            <a:off x="254000" y="3390900"/>
            <a:ext cx="1016000" cy="584200"/>
          </a:xfrm>
          <a:prstGeom prst="rect">
            <a:avLst/>
          </a:prstGeom>
          <a:solidFill>
            <a:srgbClr val="F3F5F8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输入日志</a:t>
            </a:r>
            <a:endParaRPr lang="zh-CN" altLang="en-US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recover-encode"/>
          <p:cNvSpPr txBox="1"/>
          <p:nvPr/>
        </p:nvSpPr>
        <p:spPr>
          <a:xfrm>
            <a:off x="1587500" y="3390900"/>
            <a:ext cx="1714500" cy="584200"/>
          </a:xfrm>
          <a:prstGeom prst="rect">
            <a:avLst/>
          </a:prstGeom>
          <a:solidFill>
            <a:srgbClr val="E7EDF7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视觉恢复</a:t>
            </a:r>
            <a:r>
              <a:rPr lang="en-US" altLang="zh-CN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与编码</a:t>
            </a:r>
            <a:endParaRPr lang="zh-CN" altLang="en-US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mplete"/>
          <p:cNvSpPr txBox="1"/>
          <p:nvPr/>
        </p:nvSpPr>
        <p:spPr>
          <a:xfrm>
            <a:off x="3619500" y="3390900"/>
            <a:ext cx="1460500" cy="584200"/>
          </a:xfrm>
          <a:prstGeom prst="rect">
            <a:avLst/>
          </a:prstGeom>
          <a:solidFill>
            <a:srgbClr val="EDE7F5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补全</a:t>
            </a:r>
            <a:r>
              <a:rPr lang="en-US" altLang="zh-CN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未知潜码</a:t>
            </a:r>
            <a:endParaRPr lang="zh-CN" altLang="en-US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ecode"/>
          <p:cNvSpPr txBox="1"/>
          <p:nvPr/>
        </p:nvSpPr>
        <p:spPr>
          <a:xfrm>
            <a:off x="5397500" y="3390900"/>
            <a:ext cx="1270000" cy="584200"/>
          </a:xfrm>
          <a:prstGeom prst="rect">
            <a:avLst/>
          </a:prstGeom>
          <a:solidFill>
            <a:srgbClr val="E7EDF7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解码</a:t>
            </a:r>
            <a:endParaRPr lang="zh-CN" altLang="en-US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check"/>
          <p:cNvSpPr txBox="1"/>
          <p:nvPr/>
        </p:nvSpPr>
        <p:spPr>
          <a:xfrm>
            <a:off x="6985000" y="3390900"/>
            <a:ext cx="1397000" cy="584200"/>
          </a:xfrm>
          <a:prstGeom prst="rect">
            <a:avLst/>
          </a:prstGeom>
          <a:solidFill>
            <a:srgbClr val="F8EDE2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原视角</a:t>
            </a:r>
            <a:r>
              <a:rPr lang="en-US" altLang="zh-CN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观测检查</a:t>
            </a:r>
            <a:endParaRPr lang="zh-CN" altLang="en-US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fixed-scene"/>
          <p:cNvSpPr txBox="1"/>
          <p:nvPr/>
        </p:nvSpPr>
        <p:spPr>
          <a:xfrm>
            <a:off x="8699500" y="3390900"/>
            <a:ext cx="1397000" cy="584200"/>
          </a:xfrm>
          <a:prstGeom prst="rect">
            <a:avLst/>
          </a:prstGeom>
          <a:solidFill>
            <a:srgbClr val="E4EDF1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通过检查的</a:t>
            </a:r>
            <a:r>
              <a:rPr lang="en-US" altLang="zh-CN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固定场景</a:t>
            </a:r>
            <a:endParaRPr lang="zh-CN" altLang="en-US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nder"/>
          <p:cNvSpPr txBox="1"/>
          <p:nvPr/>
        </p:nvSpPr>
        <p:spPr>
          <a:xfrm>
            <a:off x="10414000" y="3390900"/>
            <a:ext cx="1524000" cy="584200"/>
          </a:xfrm>
          <a:prstGeom prst="rect">
            <a:avLst/>
          </a:prstGeom>
          <a:solidFill>
            <a:srgbClr val="D8EBDD"/>
          </a:solidFill>
          <a:ln w="10160">
            <a:solidFill>
              <a:srgbClr val="8294A8"/>
            </a:solidFill>
          </a:ln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渲染</a:t>
            </a:r>
            <a:endParaRPr lang="zh-CN" altLang="en-US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3" name="flow-0"/>
          <p:cNvCxnSpPr>
            <a:stCxn id="6" idx="3"/>
            <a:endCxn id="7" idx="1"/>
          </p:cNvCxnSpPr>
          <p:nvPr/>
        </p:nvCxnSpPr>
        <p:spPr>
          <a:xfrm>
            <a:off x="1270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flow-1"/>
          <p:cNvCxnSpPr>
            <a:stCxn id="7" idx="3"/>
            <a:endCxn id="8" idx="1"/>
          </p:cNvCxnSpPr>
          <p:nvPr/>
        </p:nvCxnSpPr>
        <p:spPr>
          <a:xfrm>
            <a:off x="3302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flow-2"/>
          <p:cNvCxnSpPr>
            <a:stCxn id="8" idx="3"/>
            <a:endCxn id="9" idx="1"/>
          </p:cNvCxnSpPr>
          <p:nvPr/>
        </p:nvCxnSpPr>
        <p:spPr>
          <a:xfrm>
            <a:off x="5080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flow-3"/>
          <p:cNvCxnSpPr>
            <a:stCxn id="9" idx="3"/>
            <a:endCxn id="10" idx="1"/>
          </p:cNvCxnSpPr>
          <p:nvPr/>
        </p:nvCxnSpPr>
        <p:spPr>
          <a:xfrm>
            <a:off x="66675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flow-4"/>
          <p:cNvCxnSpPr>
            <a:stCxn id="10" idx="3"/>
            <a:endCxn id="11" idx="1"/>
          </p:cNvCxnSpPr>
          <p:nvPr/>
        </p:nvCxnSpPr>
        <p:spPr>
          <a:xfrm>
            <a:off x="83820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flow-5"/>
          <p:cNvCxnSpPr>
            <a:stCxn id="11" idx="3"/>
            <a:endCxn id="12" idx="1"/>
          </p:cNvCxnSpPr>
          <p:nvPr/>
        </p:nvCxnSpPr>
        <p:spPr>
          <a:xfrm>
            <a:off x="10096500" y="3683000"/>
            <a:ext cx="317500" cy="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tate-input"/>
          <p:cNvSpPr txBox="1"/>
          <p:nvPr/>
        </p:nvSpPr>
        <p:spPr>
          <a:xfrm>
            <a:off x="10236200" y="2717800"/>
            <a:ext cx="1879600" cy="558800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700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</a:t>
            </a:r>
            <a:r>
              <a:rPr lang="en-US" altLang="zh-CN" sz="1700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700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</a:t>
            </a:r>
            <a:r>
              <a:rPr lang="en-US" altLang="zh-CN" sz="1700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lang="zh-CN" altLang="en-US" sz="1700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state-to-render"/>
          <p:cNvCxnSpPr>
            <a:stCxn id="19" idx="2"/>
            <a:endCxn id="12" idx="0"/>
          </p:cNvCxnSpPr>
          <p:nvPr/>
        </p:nvCxnSpPr>
        <p:spPr>
          <a:xfrm>
            <a:off x="11176000" y="3276600"/>
            <a:ext cx="0" cy="114300"/>
          </a:xfrm>
          <a:prstGeom prst="straightConnector1">
            <a:avLst/>
          </a:prstGeom>
          <a:ln w="15240">
            <a:solidFill>
              <a:srgbClr val="5261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nference-note"/>
          <p:cNvSpPr txBox="1"/>
          <p:nvPr/>
        </p:nvSpPr>
        <p:spPr>
          <a:xfrm>
            <a:off x="254000" y="4140200"/>
            <a:ext cx="11684000" cy="317500"/>
          </a:xfrm>
          <a:prstGeom prst="rect">
            <a:avLst/>
          </a:prstGeom>
          <a:noFill/>
        </p:spPr>
        <p:txBody>
          <a:bodyPr wrap="square" lIns="25400" tIns="12700" rIns="25400" bIns="12700" rtlCol="0" anchor="ctr">
            <a:no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700">
                <a:solidFill>
                  <a:srgbClr val="182D4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在原始相机和资产状态下检查；通过检查的固定内容按新状态复用，无需重新采样。</a:t>
            </a:r>
            <a:endParaRPr lang="zh-CN" altLang="en-US" sz="1700">
              <a:solidFill>
                <a:srgbClr val="182D4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WPS 演示</Application>
  <PresentationFormat>宽屏</PresentationFormat>
  <Paragraphs>148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Training and inference — English</vt:lpstr>
      <vt:lpstr>Training and inference - Chinese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brayden</dc:creator>
  <cp:lastModifiedBy>Brayden</cp:lastModifiedBy>
  <cp:revision>160</cp:revision>
  <dcterms:created xsi:type="dcterms:W3CDTF">2019-06-19T02:08:00Z</dcterms:created>
  <dcterms:modified xsi:type="dcterms:W3CDTF">2026-10-25T13:20:29Z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FC7211D83CDA49E5986CADF3C3FABFF9_11</vt:lpwstr>
  </property>
</Properties>
</file>