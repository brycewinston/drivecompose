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119360" cy="90373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reconstruction of DriveCompose Figure 3. Source: paper/fig/drivecompose-joint-completion.png. Text, token fills, hatching, dots, panels, formulas and routes are native editable objects. Formula terms use editable rich text, rather than Office equation objects. Custom connector paths preserve the source routes; inspect them after moving grouped panels. Produced as an isolated OOXML file and verified using WPS Presentation, not Microsoft PowerPoint.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nvas-background"/>
          <p:cNvSpPr/>
          <p:nvPr/>
        </p:nvSpPr>
        <p:spPr>
          <a:xfrm>
            <a:off x="0" y="0"/>
            <a:ext cx="10119360" cy="903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0" name="region-heading-condition"/>
          <p:cNvGrpSpPr/>
          <p:nvPr/>
        </p:nvGrpSpPr>
        <p:grpSpPr>
          <a:xfrm>
            <a:off x="373380" y="0"/>
            <a:ext cx="7094220" cy="1234440"/>
            <a:chOff x="373380" y="0"/>
            <a:chExt cx="7094220" cy="1234440"/>
          </a:xfrm>
        </p:grpSpPr>
        <p:sp>
          <p:nvSpPr>
            <p:cNvPr id="3" name="figure-title"/>
            <p:cNvSpPr txBox="1"/>
            <p:nvPr/>
          </p:nvSpPr>
          <p:spPr>
            <a:xfrm>
              <a:off x="2667000" y="0"/>
              <a:ext cx="4800600" cy="419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79" b="1" i="0">
                  <a:solidFill>
                    <a:srgbClr val="10121A"/>
                  </a:solidFill>
                  <a:latin typeface="Times New Roman"/>
                </a:rPr>
                <a:t>Joint latent completion</a:t>
              </a:r>
            </a:p>
          </p:txBody>
        </p:sp>
        <p:sp>
          <p:nvSpPr>
            <p:cNvPr id="4" name="condition-panel"/>
            <p:cNvSpPr/>
            <p:nvPr/>
          </p:nvSpPr>
          <p:spPr>
            <a:xfrm>
              <a:off x="373380" y="449580"/>
              <a:ext cx="5600700" cy="784860"/>
            </a:xfrm>
            <a:prstGeom prst="roundRect">
              <a:avLst>
                <a:gd name="adj" fmla="val 9708"/>
              </a:avLst>
            </a:prstGeom>
            <a:solidFill>
              <a:srgbClr val="F6FAFC"/>
            </a:solidFill>
            <a:ln w="13716">
              <a:solidFill>
                <a:srgbClr val="93A6C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condition-title"/>
            <p:cNvSpPr txBox="1"/>
            <p:nvPr/>
          </p:nvSpPr>
          <p:spPr>
            <a:xfrm>
              <a:off x="541020" y="495300"/>
              <a:ext cx="2286000" cy="2362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39" b="1" i="0">
                  <a:solidFill>
                    <a:srgbClr val="10121A"/>
                  </a:solidFill>
                  <a:latin typeface="Times New Roman"/>
                </a:rPr>
                <a:t>Condition </a:t>
              </a:r>
              <a:r>
                <a:rPr sz="1739" b="1" i="1">
                  <a:solidFill>
                    <a:srgbClr val="10121A"/>
                  </a:solidFill>
                  <a:latin typeface="Times New Roman"/>
                </a:rPr>
                <a:t>C</a:t>
              </a:r>
            </a:p>
          </p:txBody>
        </p:sp>
        <p:sp>
          <p:nvSpPr>
            <p:cNvPr id="6" name="condition-observed-code"/>
            <p:cNvSpPr/>
            <p:nvPr/>
          </p:nvSpPr>
          <p:spPr>
            <a:xfrm>
              <a:off x="548640" y="762000"/>
              <a:ext cx="563880" cy="381000"/>
            </a:xfrm>
            <a:prstGeom prst="roundRect">
              <a:avLst>
                <a:gd name="adj" fmla="val 4000"/>
              </a:avLst>
            </a:prstGeom>
            <a:solidFill>
              <a:srgbClr val="EBF3F7"/>
            </a:solidFill>
            <a:ln w="7620">
              <a:solidFill>
                <a:srgbClr val="9CBB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condition-observed-code-label"/>
            <p:cNvSpPr txBox="1"/>
            <p:nvPr/>
          </p:nvSpPr>
          <p:spPr>
            <a:xfrm>
              <a:off x="556260" y="762000"/>
              <a:ext cx="548640" cy="381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0" i="1">
                  <a:solidFill>
                    <a:srgbClr val="10121A"/>
                  </a:solidFill>
                  <a:latin typeface="Times New Roman"/>
                </a:rPr>
                <a:t>z</a:t>
              </a:r>
              <a:r>
                <a:rPr sz="1036" b="0" i="0" baseline="-25000">
                  <a:solidFill>
                    <a:srgbClr val="10121A"/>
                  </a:solidFill>
                  <a:latin typeface="Times New Roman"/>
                </a:rPr>
                <a:t>obs</a:t>
              </a:r>
            </a:p>
          </p:txBody>
        </p:sp>
        <p:sp>
          <p:nvSpPr>
            <p:cNvPr id="8" name="condition-masks"/>
            <p:cNvSpPr/>
            <p:nvPr/>
          </p:nvSpPr>
          <p:spPr>
            <a:xfrm>
              <a:off x="1188720" y="762000"/>
              <a:ext cx="632460" cy="381000"/>
            </a:xfrm>
            <a:prstGeom prst="roundRect">
              <a:avLst>
                <a:gd name="adj" fmla="val 4000"/>
              </a:avLst>
            </a:prstGeom>
            <a:solidFill>
              <a:srgbClr val="EBF3F7"/>
            </a:solidFill>
            <a:ln w="7620">
              <a:solidFill>
                <a:srgbClr val="9CBB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ondition-masks-label"/>
            <p:cNvSpPr txBox="1"/>
            <p:nvPr/>
          </p:nvSpPr>
          <p:spPr>
            <a:xfrm>
              <a:off x="1196340" y="762000"/>
              <a:ext cx="617220" cy="381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0" i="0">
                  <a:solidFill>
                    <a:srgbClr val="10121A"/>
                  </a:solidFill>
                  <a:latin typeface="Times New Roman"/>
                </a:rPr>
                <a:t>masks</a:t>
              </a:r>
            </a:p>
          </p:txBody>
        </p:sp>
        <p:sp>
          <p:nvSpPr>
            <p:cNvPr id="10" name="condition-confidence"/>
            <p:cNvSpPr/>
            <p:nvPr/>
          </p:nvSpPr>
          <p:spPr>
            <a:xfrm>
              <a:off x="1897380" y="762000"/>
              <a:ext cx="525780" cy="381000"/>
            </a:xfrm>
            <a:prstGeom prst="roundRect">
              <a:avLst>
                <a:gd name="adj" fmla="val 4000"/>
              </a:avLst>
            </a:prstGeom>
            <a:solidFill>
              <a:srgbClr val="EBF3F7"/>
            </a:solidFill>
            <a:ln w="7620">
              <a:solidFill>
                <a:srgbClr val="9CBB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condition-confidence-label"/>
            <p:cNvSpPr txBox="1"/>
            <p:nvPr/>
          </p:nvSpPr>
          <p:spPr>
            <a:xfrm>
              <a:off x="1905000" y="762000"/>
              <a:ext cx="510539" cy="381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0" i="0">
                  <a:solidFill>
                    <a:srgbClr val="10121A"/>
                  </a:solidFill>
                  <a:latin typeface="Times New Roman"/>
                </a:rPr>
                <a:t>conf.</a:t>
              </a:r>
            </a:p>
          </p:txBody>
        </p:sp>
        <p:sp>
          <p:nvSpPr>
            <p:cNvPr id="12" name="condition-type"/>
            <p:cNvSpPr/>
            <p:nvPr/>
          </p:nvSpPr>
          <p:spPr>
            <a:xfrm>
              <a:off x="2499360" y="762000"/>
              <a:ext cx="533400" cy="381000"/>
            </a:xfrm>
            <a:prstGeom prst="roundRect">
              <a:avLst>
                <a:gd name="adj" fmla="val 4000"/>
              </a:avLst>
            </a:prstGeom>
            <a:solidFill>
              <a:srgbClr val="EBF3F7"/>
            </a:solidFill>
            <a:ln w="7620">
              <a:solidFill>
                <a:srgbClr val="9CBB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ondition-type-label"/>
            <p:cNvSpPr txBox="1"/>
            <p:nvPr/>
          </p:nvSpPr>
          <p:spPr>
            <a:xfrm>
              <a:off x="2506980" y="762000"/>
              <a:ext cx="518159" cy="381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0" i="0">
                  <a:solidFill>
                    <a:srgbClr val="10121A"/>
                  </a:solidFill>
                  <a:latin typeface="Times New Roman"/>
                </a:rPr>
                <a:t>type</a:t>
              </a:r>
            </a:p>
          </p:txBody>
        </p:sp>
        <p:sp>
          <p:nvSpPr>
            <p:cNvPr id="14" name="condition-geometry"/>
            <p:cNvSpPr/>
            <p:nvPr/>
          </p:nvSpPr>
          <p:spPr>
            <a:xfrm>
              <a:off x="3101340" y="762000"/>
              <a:ext cx="1211580" cy="381000"/>
            </a:xfrm>
            <a:prstGeom prst="roundRect">
              <a:avLst>
                <a:gd name="adj" fmla="val 4000"/>
              </a:avLst>
            </a:prstGeom>
            <a:solidFill>
              <a:srgbClr val="EBF3F7"/>
            </a:solidFill>
            <a:ln w="7620">
              <a:solidFill>
                <a:srgbClr val="9CBB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condition-geometry-label"/>
            <p:cNvSpPr txBox="1"/>
            <p:nvPr/>
          </p:nvSpPr>
          <p:spPr>
            <a:xfrm>
              <a:off x="3108960" y="762000"/>
              <a:ext cx="1196340" cy="381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0" i="0">
                  <a:solidFill>
                    <a:srgbClr val="10121A"/>
                  </a:solidFill>
                  <a:latin typeface="Times New Roman"/>
                </a:rPr>
                <a:t>geometry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0" i="0">
                  <a:solidFill>
                    <a:srgbClr val="10121A"/>
                  </a:solidFill>
                  <a:latin typeface="Times New Roman"/>
                </a:rPr>
                <a:t>(coords, scale)</a:t>
              </a:r>
            </a:p>
          </p:txBody>
        </p:sp>
        <p:sp>
          <p:nvSpPr>
            <p:cNvPr id="16" name="condition-log"/>
            <p:cNvSpPr/>
            <p:nvPr/>
          </p:nvSpPr>
          <p:spPr>
            <a:xfrm>
              <a:off x="4381500" y="762000"/>
              <a:ext cx="975360" cy="381000"/>
            </a:xfrm>
            <a:prstGeom prst="roundRect">
              <a:avLst>
                <a:gd name="adj" fmla="val 4000"/>
              </a:avLst>
            </a:prstGeom>
            <a:solidFill>
              <a:srgbClr val="EBF3F7"/>
            </a:solidFill>
            <a:ln w="7620">
              <a:solidFill>
                <a:srgbClr val="9CBB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ondition-log-label"/>
            <p:cNvSpPr txBox="1"/>
            <p:nvPr/>
          </p:nvSpPr>
          <p:spPr>
            <a:xfrm>
              <a:off x="4389120" y="762000"/>
              <a:ext cx="960119" cy="381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0" i="0">
                  <a:solidFill>
                    <a:srgbClr val="10121A"/>
                  </a:solidFill>
                  <a:latin typeface="Times New Roman"/>
                </a:rPr>
                <a:t>log context</a:t>
              </a:r>
            </a:p>
          </p:txBody>
        </p:sp>
        <p:sp>
          <p:nvSpPr>
            <p:cNvPr id="18" name="condition-time"/>
            <p:cNvSpPr/>
            <p:nvPr/>
          </p:nvSpPr>
          <p:spPr>
            <a:xfrm>
              <a:off x="5440680" y="762000"/>
              <a:ext cx="426720" cy="381000"/>
            </a:xfrm>
            <a:prstGeom prst="roundRect">
              <a:avLst>
                <a:gd name="adj" fmla="val 4000"/>
              </a:avLst>
            </a:prstGeom>
            <a:solidFill>
              <a:srgbClr val="EBF3F7"/>
            </a:solidFill>
            <a:ln w="7620">
              <a:solidFill>
                <a:srgbClr val="9CBB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condition-time-label"/>
            <p:cNvSpPr txBox="1"/>
            <p:nvPr/>
          </p:nvSpPr>
          <p:spPr>
            <a:xfrm>
              <a:off x="5448300" y="762000"/>
              <a:ext cx="411480" cy="381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0" i="1">
                  <a:solidFill>
                    <a:srgbClr val="10121A"/>
                  </a:solidFill>
                  <a:latin typeface="Times New Roman"/>
                </a:rPr>
                <a:t>τ</a:t>
              </a:r>
            </a:p>
          </p:txBody>
        </p:sp>
      </p:grpSp>
      <p:grpSp>
        <p:nvGrpSpPr>
          <p:cNvPr id="149" name="region-local-attention"/>
          <p:cNvGrpSpPr/>
          <p:nvPr/>
        </p:nvGrpSpPr>
        <p:grpSpPr>
          <a:xfrm>
            <a:off x="190500" y="1424940"/>
            <a:ext cx="4381500" cy="2575560"/>
            <a:chOff x="190500" y="1424940"/>
            <a:chExt cx="4381500" cy="2575560"/>
          </a:xfrm>
        </p:grpSpPr>
        <p:sp>
          <p:nvSpPr>
            <p:cNvPr id="21" name="local-panel"/>
            <p:cNvSpPr/>
            <p:nvPr/>
          </p:nvSpPr>
          <p:spPr>
            <a:xfrm>
              <a:off x="190500" y="1424940"/>
              <a:ext cx="4381500" cy="2575560"/>
            </a:xfrm>
            <a:prstGeom prst="roundRect">
              <a:avLst>
                <a:gd name="adj" fmla="val 3550"/>
              </a:avLst>
            </a:prstGeom>
            <a:solidFill>
              <a:srgbClr val="F3FBFF"/>
            </a:solidFill>
            <a:ln w="10668">
              <a:solidFill>
                <a:srgbClr val="8CC8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local-title"/>
            <p:cNvSpPr txBox="1"/>
            <p:nvPr/>
          </p:nvSpPr>
          <p:spPr>
            <a:xfrm>
              <a:off x="365759" y="1478280"/>
              <a:ext cx="39624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1" i="0">
                  <a:solidFill>
                    <a:srgbClr val="10121A"/>
                  </a:solidFill>
                  <a:latin typeface="Times New Roman"/>
                </a:rPr>
                <a:t>Local attention</a:t>
              </a:r>
            </a:p>
          </p:txBody>
        </p:sp>
        <p:sp>
          <p:nvSpPr>
            <p:cNvPr id="23" name="local-subtitle"/>
            <p:cNvSpPr txBox="1"/>
            <p:nvPr/>
          </p:nvSpPr>
          <p:spPr>
            <a:xfrm>
              <a:off x="373380" y="1760220"/>
              <a:ext cx="4076700" cy="2362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60" b="0" i="0">
                  <a:solidFill>
                    <a:srgbClr val="10121A"/>
                  </a:solidFill>
                  <a:latin typeface="Times New Roman"/>
                </a:rPr>
                <a:t>per component (self-attention, conditioned on </a:t>
              </a:r>
              <a:r>
                <a:rPr sz="1560" b="0" i="1">
                  <a:solidFill>
                    <a:srgbClr val="10121A"/>
                  </a:solidFill>
                  <a:latin typeface="Times New Roman"/>
                </a:rPr>
                <a:t>C</a:t>
              </a:r>
              <a:r>
                <a:rPr sz="1560" b="0" i="0">
                  <a:solidFill>
                    <a:srgbClr val="10121A"/>
                  </a:solidFill>
                  <a:latin typeface="Times New Roman"/>
                </a:rPr>
                <a:t>, </a:t>
              </a:r>
              <a:r>
                <a:rPr sz="1560" b="0" i="1">
                  <a:solidFill>
                    <a:srgbClr val="10121A"/>
                  </a:solidFill>
                  <a:latin typeface="Times New Roman"/>
                </a:rPr>
                <a:t>τ</a:t>
              </a:r>
              <a:r>
                <a:rPr sz="1560" b="0" i="0">
                  <a:solidFill>
                    <a:srgbClr val="10121A"/>
                  </a:solidFill>
                  <a:latin typeface="Times New Roman"/>
                </a:rPr>
                <a:t>)</a:t>
              </a:r>
            </a:p>
          </p:txBody>
        </p:sp>
        <p:sp>
          <p:nvSpPr>
            <p:cNvPr id="24" name="local-output-label"/>
            <p:cNvSpPr txBox="1"/>
            <p:nvPr/>
          </p:nvSpPr>
          <p:spPr>
            <a:xfrm>
              <a:off x="3429000" y="2049780"/>
              <a:ext cx="365759" cy="25907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20" b="0" i="1">
                  <a:solidFill>
                    <a:srgbClr val="10121A"/>
                  </a:solidFill>
                  <a:latin typeface="Times New Roman"/>
                </a:rPr>
                <a:t>X̃</a:t>
              </a:r>
            </a:p>
          </p:txBody>
        </p:sp>
        <p:sp>
          <p:nvSpPr>
            <p:cNvPr id="25" name="local-background-label"/>
            <p:cNvSpPr txBox="1"/>
            <p:nvPr/>
          </p:nvSpPr>
          <p:spPr>
            <a:xfrm>
              <a:off x="289560" y="2316480"/>
              <a:ext cx="952500" cy="43433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Background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(regions)</a:t>
              </a:r>
            </a:p>
          </p:txBody>
        </p:sp>
        <p:sp>
          <p:nvSpPr>
            <p:cNvPr id="26" name="local-background-frame"/>
            <p:cNvSpPr/>
            <p:nvPr/>
          </p:nvSpPr>
          <p:spPr>
            <a:xfrm>
              <a:off x="1257300" y="2278380"/>
              <a:ext cx="1874520" cy="396240"/>
            </a:xfrm>
            <a:prstGeom prst="roundRect">
              <a:avLst>
                <a:gd name="adj" fmla="val 15384"/>
              </a:avLst>
            </a:prstGeom>
            <a:solidFill>
              <a:srgbClr val="F3FBFF"/>
            </a:solidFill>
            <a:ln w="6858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local-background-token-0"/>
            <p:cNvSpPr/>
            <p:nvPr/>
          </p:nvSpPr>
          <p:spPr>
            <a:xfrm>
              <a:off x="1333500" y="2354580"/>
              <a:ext cx="243840" cy="243840"/>
            </a:xfrm>
            <a:prstGeom prst="rect">
              <a:avLst/>
            </a:prstGeom>
            <a:solidFill>
              <a:srgbClr val="CBEAF9"/>
            </a:solidFill>
            <a:ln w="13716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local-background-token-0-observation"/>
            <p:cNvSpPr/>
            <p:nvPr/>
          </p:nvSpPr>
          <p:spPr>
            <a:xfrm>
              <a:off x="1363980" y="2385060"/>
              <a:ext cx="85344" cy="85344"/>
            </a:xfrm>
            <a:prstGeom prst="ellipse">
              <a:avLst/>
            </a:prstGeom>
            <a:solidFill>
              <a:srgbClr val="003B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local-background-token-1"/>
            <p:cNvSpPr/>
            <p:nvPr/>
          </p:nvSpPr>
          <p:spPr>
            <a:xfrm>
              <a:off x="1699259" y="2354580"/>
              <a:ext cx="243840" cy="243840"/>
            </a:xfrm>
            <a:prstGeom prst="rect">
              <a:avLst/>
            </a:prstGeom>
            <a:solidFill>
              <a:srgbClr val="CBEAF9"/>
            </a:solidFill>
            <a:ln w="13716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local-background-token-2"/>
            <p:cNvSpPr/>
            <p:nvPr/>
          </p:nvSpPr>
          <p:spPr>
            <a:xfrm>
              <a:off x="2065020" y="2354580"/>
              <a:ext cx="243840" cy="243840"/>
            </a:xfrm>
            <a:prstGeom prst="rect">
              <a:avLst/>
            </a:prstGeom>
            <a:solidFill>
              <a:srgbClr val="CBEAF9"/>
            </a:solidFill>
            <a:ln w="13716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local-background-token-2-hatch-a"/>
            <p:cNvCxnSpPr/>
            <p:nvPr/>
          </p:nvCxnSpPr>
          <p:spPr>
            <a:xfrm>
              <a:off x="2072639" y="2362200"/>
              <a:ext cx="22861" cy="22860"/>
            </a:xfrm>
            <a:custGeom>
              <a:avLst/>
              <a:gdLst/>
              <a:ahLst/>
              <a:cxnLst/>
              <a:rect l="0" t="0" r="r" b="b"/>
              <a:pathLst>
                <a:path w="3000" h="3000" fill="none" stroke="1">
                  <a:moveTo>
                    <a:pt x="0" y="3000"/>
                  </a:moveTo>
                  <a:lnTo>
                    <a:pt x="3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local-background-token-2-hatch-b"/>
            <p:cNvCxnSpPr/>
            <p:nvPr/>
          </p:nvCxnSpPr>
          <p:spPr>
            <a:xfrm>
              <a:off x="2072639" y="2362200"/>
              <a:ext cx="60961" cy="60960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local-background-token-2-hatch-c"/>
            <p:cNvCxnSpPr/>
            <p:nvPr/>
          </p:nvCxnSpPr>
          <p:spPr>
            <a:xfrm>
              <a:off x="2072639" y="2362200"/>
              <a:ext cx="99061" cy="99060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local-background-token-2-hatch-d"/>
            <p:cNvCxnSpPr/>
            <p:nvPr/>
          </p:nvCxnSpPr>
          <p:spPr>
            <a:xfrm>
              <a:off x="2072639" y="2362200"/>
              <a:ext cx="137161" cy="137160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local-background-token-2-hatch-e"/>
            <p:cNvCxnSpPr/>
            <p:nvPr/>
          </p:nvCxnSpPr>
          <p:spPr>
            <a:xfrm>
              <a:off x="2072639" y="2362200"/>
              <a:ext cx="175261" cy="175260"/>
            </a:xfrm>
            <a:custGeom>
              <a:avLst/>
              <a:gdLst/>
              <a:ahLst/>
              <a:cxnLst/>
              <a:rect l="0" t="0" r="r" b="b"/>
              <a:pathLst>
                <a:path w="23000" h="23000" fill="none" stroke="1">
                  <a:moveTo>
                    <a:pt x="0" y="23000"/>
                  </a:moveTo>
                  <a:lnTo>
                    <a:pt x="23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local-background-token-2-hatch-f"/>
            <p:cNvCxnSpPr/>
            <p:nvPr/>
          </p:nvCxnSpPr>
          <p:spPr>
            <a:xfrm>
              <a:off x="2072639" y="2362200"/>
              <a:ext cx="213361" cy="213360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 stroke="1">
                  <a:moveTo>
                    <a:pt x="0" y="28000"/>
                  </a:moveTo>
                  <a:lnTo>
                    <a:pt x="28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local-background-token-2-hatch-g"/>
            <p:cNvCxnSpPr/>
            <p:nvPr/>
          </p:nvCxnSpPr>
          <p:spPr>
            <a:xfrm>
              <a:off x="2095500" y="2385060"/>
              <a:ext cx="205740" cy="205740"/>
            </a:xfrm>
            <a:custGeom>
              <a:avLst/>
              <a:gdLst/>
              <a:ahLst/>
              <a:cxnLst/>
              <a:rect l="0" t="0" r="r" b="b"/>
              <a:pathLst>
                <a:path w="27000" h="27000" fill="none" stroke="1">
                  <a:moveTo>
                    <a:pt x="0" y="27000"/>
                  </a:moveTo>
                  <a:lnTo>
                    <a:pt x="27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local-background-token-2-hatch-h"/>
            <p:cNvCxnSpPr/>
            <p:nvPr/>
          </p:nvCxnSpPr>
          <p:spPr>
            <a:xfrm>
              <a:off x="2133600" y="2423160"/>
              <a:ext cx="167640" cy="167640"/>
            </a:xfrm>
            <a:custGeom>
              <a:avLst/>
              <a:gdLst/>
              <a:ahLst/>
              <a:cxnLst/>
              <a:rect l="0" t="0" r="r" b="b"/>
              <a:pathLst>
                <a:path w="22000" h="22000" fill="none" stroke="1">
                  <a:moveTo>
                    <a:pt x="0" y="22000"/>
                  </a:moveTo>
                  <a:lnTo>
                    <a:pt x="22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local-background-token-2-hatch-i"/>
            <p:cNvCxnSpPr/>
            <p:nvPr/>
          </p:nvCxnSpPr>
          <p:spPr>
            <a:xfrm>
              <a:off x="2171700" y="2461260"/>
              <a:ext cx="129540" cy="129540"/>
            </a:xfrm>
            <a:custGeom>
              <a:avLst/>
              <a:gdLst/>
              <a:ahLst/>
              <a:cxnLst/>
              <a:rect l="0" t="0" r="r" b="b"/>
              <a:pathLst>
                <a:path w="17000" h="17000" fill="none" stroke="1">
                  <a:moveTo>
                    <a:pt x="0" y="17000"/>
                  </a:moveTo>
                  <a:lnTo>
                    <a:pt x="17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local-background-token-2-hatch-j"/>
            <p:cNvCxnSpPr/>
            <p:nvPr/>
          </p:nvCxnSpPr>
          <p:spPr>
            <a:xfrm>
              <a:off x="2209800" y="2499360"/>
              <a:ext cx="91440" cy="91440"/>
            </a:xfrm>
            <a:custGeom>
              <a:avLst/>
              <a:gdLst/>
              <a:ahLst/>
              <a:cxnLst/>
              <a:rect l="0" t="0" r="r" b="b"/>
              <a:pathLst>
                <a:path w="12000" h="12000" fill="none" stroke="1">
                  <a:moveTo>
                    <a:pt x="0" y="12000"/>
                  </a:moveTo>
                  <a:lnTo>
                    <a:pt x="12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local-background-token-2-hatch-k"/>
            <p:cNvCxnSpPr/>
            <p:nvPr/>
          </p:nvCxnSpPr>
          <p:spPr>
            <a:xfrm>
              <a:off x="2247900" y="2537460"/>
              <a:ext cx="53340" cy="53340"/>
            </a:xfrm>
            <a:custGeom>
              <a:avLst/>
              <a:gdLst/>
              <a:ahLst/>
              <a:cxnLst/>
              <a:rect l="0" t="0" r="r" b="b"/>
              <a:pathLst>
                <a:path w="7000" h="7000" fill="none" stroke="1">
                  <a:moveTo>
                    <a:pt x="0" y="7000"/>
                  </a:moveTo>
                  <a:lnTo>
                    <a:pt x="7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local-background-token-2-hatch-l"/>
            <p:cNvCxnSpPr/>
            <p:nvPr/>
          </p:nvCxnSpPr>
          <p:spPr>
            <a:xfrm>
              <a:off x="2286000" y="2575560"/>
              <a:ext cx="15240" cy="15240"/>
            </a:xfrm>
            <a:custGeom>
              <a:avLst/>
              <a:gdLst/>
              <a:ahLst/>
              <a:cxnLst/>
              <a:rect l="0" t="0" r="r" b="b"/>
              <a:pathLst>
                <a:path w="2000" h="2000" fill="none" stroke="1">
                  <a:moveTo>
                    <a:pt x="0" y="2000"/>
                  </a:moveTo>
                  <a:lnTo>
                    <a:pt x="2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local-background-token-3"/>
            <p:cNvSpPr/>
            <p:nvPr/>
          </p:nvSpPr>
          <p:spPr>
            <a:xfrm>
              <a:off x="2430780" y="2354580"/>
              <a:ext cx="243840" cy="24384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local-background-ellipsis-0"/>
            <p:cNvSpPr/>
            <p:nvPr/>
          </p:nvSpPr>
          <p:spPr>
            <a:xfrm>
              <a:off x="2804160" y="246126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local-background-ellipsis-1"/>
            <p:cNvSpPr/>
            <p:nvPr/>
          </p:nvSpPr>
          <p:spPr>
            <a:xfrm>
              <a:off x="2887980" y="246126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local-background-ellipsis-2"/>
            <p:cNvSpPr/>
            <p:nvPr/>
          </p:nvSpPr>
          <p:spPr>
            <a:xfrm>
              <a:off x="2971800" y="246126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" name="local-background-attention-0"/>
            <p:cNvCxnSpPr/>
            <p:nvPr/>
          </p:nvCxnSpPr>
          <p:spPr>
            <a:xfrm>
              <a:off x="1508760" y="2026920"/>
              <a:ext cx="434340" cy="251460"/>
            </a:xfrm>
            <a:custGeom>
              <a:avLst/>
              <a:gdLst/>
              <a:ahLst/>
              <a:cxnLst/>
              <a:rect l="0" t="0" r="r" b="b"/>
              <a:pathLst>
                <a:path w="57000" h="33000" fill="none" stroke="1">
                  <a:moveTo>
                    <a:pt x="57000" y="0"/>
                  </a:moveTo>
                  <a:cubicBezTo>
                    <a:pt x="57000" y="0"/>
                    <a:pt x="0" y="0"/>
                    <a:pt x="0" y="33000"/>
                  </a:cubicBezTo>
                </a:path>
              </a:pathLst>
            </a:custGeom>
            <a:ln w="12954">
              <a:solidFill>
                <a:srgbClr val="0785FF"/>
              </a:solidFill>
              <a:round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local-background-attention-1"/>
            <p:cNvCxnSpPr/>
            <p:nvPr/>
          </p:nvCxnSpPr>
          <p:spPr>
            <a:xfrm>
              <a:off x="1813559" y="2026920"/>
              <a:ext cx="129541" cy="251460"/>
            </a:xfrm>
            <a:custGeom>
              <a:avLst/>
              <a:gdLst/>
              <a:ahLst/>
              <a:cxnLst/>
              <a:rect l="0" t="0" r="r" b="b"/>
              <a:pathLst>
                <a:path w="17000" h="33000" fill="none" stroke="1">
                  <a:moveTo>
                    <a:pt x="17000" y="0"/>
                  </a:moveTo>
                  <a:cubicBezTo>
                    <a:pt x="17000" y="0"/>
                    <a:pt x="0" y="0"/>
                    <a:pt x="0" y="33000"/>
                  </a:cubicBezTo>
                </a:path>
              </a:pathLst>
            </a:custGeom>
            <a:ln w="12954">
              <a:solidFill>
                <a:srgbClr val="0785FF"/>
              </a:solidFill>
              <a:round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local-background-attention-2"/>
            <p:cNvCxnSpPr/>
            <p:nvPr/>
          </p:nvCxnSpPr>
          <p:spPr>
            <a:xfrm>
              <a:off x="1943100" y="2026920"/>
              <a:ext cx="182880" cy="251460"/>
            </a:xfrm>
            <a:custGeom>
              <a:avLst/>
              <a:gdLst/>
              <a:ahLst/>
              <a:cxnLst/>
              <a:rect l="0" t="0" r="r" b="b"/>
              <a:pathLst>
                <a:path w="24000" h="33000" fill="none" stroke="1">
                  <a:moveTo>
                    <a:pt x="0" y="0"/>
                  </a:moveTo>
                  <a:cubicBezTo>
                    <a:pt x="0" y="0"/>
                    <a:pt x="24000" y="0"/>
                    <a:pt x="24000" y="33000"/>
                  </a:cubicBezTo>
                </a:path>
              </a:pathLst>
            </a:custGeom>
            <a:ln w="12954">
              <a:solidFill>
                <a:srgbClr val="0785FF"/>
              </a:solidFill>
              <a:round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local-background-attention-3"/>
            <p:cNvCxnSpPr/>
            <p:nvPr/>
          </p:nvCxnSpPr>
          <p:spPr>
            <a:xfrm>
              <a:off x="1943100" y="2026920"/>
              <a:ext cx="449580" cy="251460"/>
            </a:xfrm>
            <a:custGeom>
              <a:avLst/>
              <a:gdLst/>
              <a:ahLst/>
              <a:cxnLst/>
              <a:rect l="0" t="0" r="r" b="b"/>
              <a:pathLst>
                <a:path w="59000" h="33000" fill="none" stroke="1">
                  <a:moveTo>
                    <a:pt x="0" y="0"/>
                  </a:moveTo>
                  <a:cubicBezTo>
                    <a:pt x="0" y="0"/>
                    <a:pt x="59000" y="0"/>
                    <a:pt x="59000" y="33000"/>
                  </a:cubicBezTo>
                </a:path>
              </a:pathLst>
            </a:custGeom>
            <a:ln w="12954">
              <a:solidFill>
                <a:srgbClr val="0785FF"/>
              </a:solidFill>
              <a:round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local-background-output"/>
            <p:cNvCxnSpPr/>
            <p:nvPr/>
          </p:nvCxnSpPr>
          <p:spPr>
            <a:xfrm>
              <a:off x="3154679" y="2476500"/>
              <a:ext cx="236221" cy="762"/>
            </a:xfrm>
            <a:custGeom>
              <a:avLst/>
              <a:gdLst/>
              <a:ahLst/>
              <a:cxnLst/>
              <a:rect l="0" t="0" r="r" b="b"/>
              <a:pathLst>
                <a:path w="31000" h="100" fill="none" stroke="1">
                  <a:moveTo>
                    <a:pt x="0" y="0"/>
                  </a:moveTo>
                  <a:lnTo>
                    <a:pt x="31000" y="0"/>
                  </a:lnTo>
                </a:path>
              </a:pathLst>
            </a:custGeom>
            <a:ln w="17526">
              <a:solidFill>
                <a:srgbClr val="10121A"/>
              </a:solidFill>
              <a:round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local-background-output-0"/>
            <p:cNvSpPr/>
            <p:nvPr/>
          </p:nvSpPr>
          <p:spPr>
            <a:xfrm>
              <a:off x="3444240" y="2362200"/>
              <a:ext cx="236219" cy="236219"/>
            </a:xfrm>
            <a:prstGeom prst="rect">
              <a:avLst/>
            </a:prstGeom>
            <a:solidFill>
              <a:srgbClr val="CBEAF9"/>
            </a:solidFill>
            <a:ln w="13716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local-background-output-0-observation"/>
            <p:cNvSpPr/>
            <p:nvPr/>
          </p:nvSpPr>
          <p:spPr>
            <a:xfrm>
              <a:off x="3474719" y="2392680"/>
              <a:ext cx="82677" cy="82677"/>
            </a:xfrm>
            <a:prstGeom prst="ellipse">
              <a:avLst/>
            </a:prstGeom>
            <a:solidFill>
              <a:srgbClr val="003B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local-background-output-1"/>
            <p:cNvSpPr/>
            <p:nvPr/>
          </p:nvSpPr>
          <p:spPr>
            <a:xfrm>
              <a:off x="3749040" y="2362200"/>
              <a:ext cx="236219" cy="236219"/>
            </a:xfrm>
            <a:prstGeom prst="rect">
              <a:avLst/>
            </a:prstGeom>
            <a:solidFill>
              <a:srgbClr val="CBEAF9"/>
            </a:solidFill>
            <a:ln w="13716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local-background-output-2"/>
            <p:cNvSpPr/>
            <p:nvPr/>
          </p:nvSpPr>
          <p:spPr>
            <a:xfrm>
              <a:off x="4053840" y="2362200"/>
              <a:ext cx="236219" cy="236219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local-background-output-ellipsis-0"/>
            <p:cNvSpPr/>
            <p:nvPr/>
          </p:nvSpPr>
          <p:spPr>
            <a:xfrm>
              <a:off x="4351020" y="2461260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local-background-output-ellipsis-1"/>
            <p:cNvSpPr/>
            <p:nvPr/>
          </p:nvSpPr>
          <p:spPr>
            <a:xfrm>
              <a:off x="4419600" y="2461260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local-background-output-ellipsis-2"/>
            <p:cNvSpPr/>
            <p:nvPr/>
          </p:nvSpPr>
          <p:spPr>
            <a:xfrm>
              <a:off x="4488180" y="2461260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local-rigid-label"/>
            <p:cNvSpPr txBox="1"/>
            <p:nvPr/>
          </p:nvSpPr>
          <p:spPr>
            <a:xfrm>
              <a:off x="289560" y="2887980"/>
              <a:ext cx="952500" cy="43433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Rigid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(assets)</a:t>
              </a:r>
            </a:p>
          </p:txBody>
        </p:sp>
        <p:sp>
          <p:nvSpPr>
            <p:cNvPr id="60" name="local-rigid-frame"/>
            <p:cNvSpPr/>
            <p:nvPr/>
          </p:nvSpPr>
          <p:spPr>
            <a:xfrm>
              <a:off x="1257300" y="2849880"/>
              <a:ext cx="1874520" cy="396240"/>
            </a:xfrm>
            <a:prstGeom prst="roundRect">
              <a:avLst>
                <a:gd name="adj" fmla="val 15384"/>
              </a:avLst>
            </a:prstGeom>
            <a:solidFill>
              <a:srgbClr val="FFF9EC"/>
            </a:solidFill>
            <a:ln w="6858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local-rigid-token-0"/>
            <p:cNvSpPr/>
            <p:nvPr/>
          </p:nvSpPr>
          <p:spPr>
            <a:xfrm>
              <a:off x="1333500" y="2926079"/>
              <a:ext cx="243840" cy="243840"/>
            </a:xfrm>
            <a:prstGeom prst="rect">
              <a:avLst/>
            </a:prstGeom>
            <a:solidFill>
              <a:srgbClr val="FFE8BF"/>
            </a:solidFill>
            <a:ln w="13716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local-rigid-token-0-observation"/>
            <p:cNvSpPr/>
            <p:nvPr/>
          </p:nvSpPr>
          <p:spPr>
            <a:xfrm>
              <a:off x="1363980" y="2956560"/>
              <a:ext cx="85344" cy="85344"/>
            </a:xfrm>
            <a:prstGeom prst="ellipse">
              <a:avLst/>
            </a:prstGeom>
            <a:solidFill>
              <a:srgbClr val="A53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local-rigid-token-1"/>
            <p:cNvSpPr/>
            <p:nvPr/>
          </p:nvSpPr>
          <p:spPr>
            <a:xfrm>
              <a:off x="1699259" y="2926079"/>
              <a:ext cx="243840" cy="243840"/>
            </a:xfrm>
            <a:prstGeom prst="rect">
              <a:avLst/>
            </a:prstGeom>
            <a:solidFill>
              <a:srgbClr val="FFE8BF"/>
            </a:solidFill>
            <a:ln w="13716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local-rigid-token-2"/>
            <p:cNvSpPr/>
            <p:nvPr/>
          </p:nvSpPr>
          <p:spPr>
            <a:xfrm>
              <a:off x="2065020" y="2926079"/>
              <a:ext cx="243840" cy="243840"/>
            </a:xfrm>
            <a:prstGeom prst="rect">
              <a:avLst/>
            </a:prstGeom>
            <a:solidFill>
              <a:srgbClr val="FFE8BF"/>
            </a:solidFill>
            <a:ln w="13716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5" name="local-rigid-token-2-hatch-a"/>
            <p:cNvCxnSpPr/>
            <p:nvPr/>
          </p:nvCxnSpPr>
          <p:spPr>
            <a:xfrm>
              <a:off x="2072639" y="2933700"/>
              <a:ext cx="22861" cy="22860"/>
            </a:xfrm>
            <a:custGeom>
              <a:avLst/>
              <a:gdLst/>
              <a:ahLst/>
              <a:cxnLst/>
              <a:rect l="0" t="0" r="r" b="b"/>
              <a:pathLst>
                <a:path w="3000" h="3000" fill="none" stroke="1">
                  <a:moveTo>
                    <a:pt x="0" y="3000"/>
                  </a:moveTo>
                  <a:lnTo>
                    <a:pt x="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local-rigid-token-2-hatch-b"/>
            <p:cNvCxnSpPr/>
            <p:nvPr/>
          </p:nvCxnSpPr>
          <p:spPr>
            <a:xfrm>
              <a:off x="2072639" y="2933700"/>
              <a:ext cx="60961" cy="60960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local-rigid-token-2-hatch-c"/>
            <p:cNvCxnSpPr/>
            <p:nvPr/>
          </p:nvCxnSpPr>
          <p:spPr>
            <a:xfrm>
              <a:off x="2072639" y="2933700"/>
              <a:ext cx="99061" cy="99060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local-rigid-token-2-hatch-d"/>
            <p:cNvCxnSpPr/>
            <p:nvPr/>
          </p:nvCxnSpPr>
          <p:spPr>
            <a:xfrm>
              <a:off x="2072639" y="2933700"/>
              <a:ext cx="137161" cy="137160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local-rigid-token-2-hatch-e"/>
            <p:cNvCxnSpPr/>
            <p:nvPr/>
          </p:nvCxnSpPr>
          <p:spPr>
            <a:xfrm>
              <a:off x="2072639" y="2933700"/>
              <a:ext cx="175261" cy="175260"/>
            </a:xfrm>
            <a:custGeom>
              <a:avLst/>
              <a:gdLst/>
              <a:ahLst/>
              <a:cxnLst/>
              <a:rect l="0" t="0" r="r" b="b"/>
              <a:pathLst>
                <a:path w="23000" h="23000" fill="none" stroke="1">
                  <a:moveTo>
                    <a:pt x="0" y="23000"/>
                  </a:moveTo>
                  <a:lnTo>
                    <a:pt x="2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local-rigid-token-2-hatch-f"/>
            <p:cNvCxnSpPr/>
            <p:nvPr/>
          </p:nvCxnSpPr>
          <p:spPr>
            <a:xfrm>
              <a:off x="2072639" y="2933700"/>
              <a:ext cx="213361" cy="213360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 stroke="1">
                  <a:moveTo>
                    <a:pt x="0" y="28000"/>
                  </a:moveTo>
                  <a:lnTo>
                    <a:pt x="2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local-rigid-token-2-hatch-g"/>
            <p:cNvCxnSpPr/>
            <p:nvPr/>
          </p:nvCxnSpPr>
          <p:spPr>
            <a:xfrm>
              <a:off x="2095500" y="2956560"/>
              <a:ext cx="205740" cy="205740"/>
            </a:xfrm>
            <a:custGeom>
              <a:avLst/>
              <a:gdLst/>
              <a:ahLst/>
              <a:cxnLst/>
              <a:rect l="0" t="0" r="r" b="b"/>
              <a:pathLst>
                <a:path w="27000" h="27000" fill="none" stroke="1">
                  <a:moveTo>
                    <a:pt x="0" y="27000"/>
                  </a:moveTo>
                  <a:lnTo>
                    <a:pt x="27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local-rigid-token-2-hatch-h"/>
            <p:cNvCxnSpPr/>
            <p:nvPr/>
          </p:nvCxnSpPr>
          <p:spPr>
            <a:xfrm>
              <a:off x="2133600" y="2994660"/>
              <a:ext cx="167640" cy="167640"/>
            </a:xfrm>
            <a:custGeom>
              <a:avLst/>
              <a:gdLst/>
              <a:ahLst/>
              <a:cxnLst/>
              <a:rect l="0" t="0" r="r" b="b"/>
              <a:pathLst>
                <a:path w="22000" h="22000" fill="none" stroke="1">
                  <a:moveTo>
                    <a:pt x="0" y="22000"/>
                  </a:moveTo>
                  <a:lnTo>
                    <a:pt x="22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local-rigid-token-2-hatch-i"/>
            <p:cNvCxnSpPr/>
            <p:nvPr/>
          </p:nvCxnSpPr>
          <p:spPr>
            <a:xfrm>
              <a:off x="2171700" y="3032760"/>
              <a:ext cx="129540" cy="129540"/>
            </a:xfrm>
            <a:custGeom>
              <a:avLst/>
              <a:gdLst/>
              <a:ahLst/>
              <a:cxnLst/>
              <a:rect l="0" t="0" r="r" b="b"/>
              <a:pathLst>
                <a:path w="17000" h="17000" fill="none" stroke="1">
                  <a:moveTo>
                    <a:pt x="0" y="17000"/>
                  </a:moveTo>
                  <a:lnTo>
                    <a:pt x="17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local-rigid-token-2-hatch-j"/>
            <p:cNvCxnSpPr/>
            <p:nvPr/>
          </p:nvCxnSpPr>
          <p:spPr>
            <a:xfrm>
              <a:off x="2209800" y="3070860"/>
              <a:ext cx="91440" cy="91440"/>
            </a:xfrm>
            <a:custGeom>
              <a:avLst/>
              <a:gdLst/>
              <a:ahLst/>
              <a:cxnLst/>
              <a:rect l="0" t="0" r="r" b="b"/>
              <a:pathLst>
                <a:path w="12000" h="12000" fill="none" stroke="1">
                  <a:moveTo>
                    <a:pt x="0" y="12000"/>
                  </a:moveTo>
                  <a:lnTo>
                    <a:pt x="12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local-rigid-token-2-hatch-k"/>
            <p:cNvCxnSpPr/>
            <p:nvPr/>
          </p:nvCxnSpPr>
          <p:spPr>
            <a:xfrm>
              <a:off x="2247900" y="3108960"/>
              <a:ext cx="53340" cy="53340"/>
            </a:xfrm>
            <a:custGeom>
              <a:avLst/>
              <a:gdLst/>
              <a:ahLst/>
              <a:cxnLst/>
              <a:rect l="0" t="0" r="r" b="b"/>
              <a:pathLst>
                <a:path w="7000" h="7000" fill="none" stroke="1">
                  <a:moveTo>
                    <a:pt x="0" y="7000"/>
                  </a:moveTo>
                  <a:lnTo>
                    <a:pt x="7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local-rigid-token-2-hatch-l"/>
            <p:cNvCxnSpPr/>
            <p:nvPr/>
          </p:nvCxnSpPr>
          <p:spPr>
            <a:xfrm>
              <a:off x="2286000" y="3147060"/>
              <a:ext cx="15240" cy="15240"/>
            </a:xfrm>
            <a:custGeom>
              <a:avLst/>
              <a:gdLst/>
              <a:ahLst/>
              <a:cxnLst/>
              <a:rect l="0" t="0" r="r" b="b"/>
              <a:pathLst>
                <a:path w="2000" h="2000" fill="none" stroke="1">
                  <a:moveTo>
                    <a:pt x="0" y="2000"/>
                  </a:moveTo>
                  <a:lnTo>
                    <a:pt x="2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local-rigid-token-3"/>
            <p:cNvSpPr/>
            <p:nvPr/>
          </p:nvSpPr>
          <p:spPr>
            <a:xfrm>
              <a:off x="2430780" y="2926079"/>
              <a:ext cx="243840" cy="24384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local-rigid-ellipsis-0"/>
            <p:cNvSpPr/>
            <p:nvPr/>
          </p:nvSpPr>
          <p:spPr>
            <a:xfrm>
              <a:off x="2804160" y="303276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local-rigid-ellipsis-1"/>
            <p:cNvSpPr/>
            <p:nvPr/>
          </p:nvSpPr>
          <p:spPr>
            <a:xfrm>
              <a:off x="2887980" y="303276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local-rigid-ellipsis-2"/>
            <p:cNvSpPr/>
            <p:nvPr/>
          </p:nvSpPr>
          <p:spPr>
            <a:xfrm>
              <a:off x="2971800" y="303276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1" name="local-rigid-attention-0"/>
            <p:cNvCxnSpPr/>
            <p:nvPr/>
          </p:nvCxnSpPr>
          <p:spPr>
            <a:xfrm>
              <a:off x="1508760" y="2598420"/>
              <a:ext cx="434340" cy="251460"/>
            </a:xfrm>
            <a:custGeom>
              <a:avLst/>
              <a:gdLst/>
              <a:ahLst/>
              <a:cxnLst/>
              <a:rect l="0" t="0" r="r" b="b"/>
              <a:pathLst>
                <a:path w="57000" h="33000" fill="none" stroke="1">
                  <a:moveTo>
                    <a:pt x="57000" y="0"/>
                  </a:moveTo>
                  <a:cubicBezTo>
                    <a:pt x="57000" y="0"/>
                    <a:pt x="0" y="0"/>
                    <a:pt x="0" y="33000"/>
                  </a:cubicBezTo>
                </a:path>
              </a:pathLst>
            </a:custGeom>
            <a:ln w="12954">
              <a:solidFill>
                <a:srgbClr val="FF8500"/>
              </a:solidFill>
              <a:round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local-rigid-attention-1"/>
            <p:cNvCxnSpPr/>
            <p:nvPr/>
          </p:nvCxnSpPr>
          <p:spPr>
            <a:xfrm>
              <a:off x="1813559" y="2598420"/>
              <a:ext cx="129541" cy="251460"/>
            </a:xfrm>
            <a:custGeom>
              <a:avLst/>
              <a:gdLst/>
              <a:ahLst/>
              <a:cxnLst/>
              <a:rect l="0" t="0" r="r" b="b"/>
              <a:pathLst>
                <a:path w="17000" h="33000" fill="none" stroke="1">
                  <a:moveTo>
                    <a:pt x="17000" y="0"/>
                  </a:moveTo>
                  <a:cubicBezTo>
                    <a:pt x="17000" y="0"/>
                    <a:pt x="0" y="0"/>
                    <a:pt x="0" y="33000"/>
                  </a:cubicBezTo>
                </a:path>
              </a:pathLst>
            </a:custGeom>
            <a:ln w="12954">
              <a:solidFill>
                <a:srgbClr val="FF8500"/>
              </a:solidFill>
              <a:round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local-rigid-attention-2"/>
            <p:cNvCxnSpPr/>
            <p:nvPr/>
          </p:nvCxnSpPr>
          <p:spPr>
            <a:xfrm>
              <a:off x="1943100" y="2598420"/>
              <a:ext cx="182880" cy="251460"/>
            </a:xfrm>
            <a:custGeom>
              <a:avLst/>
              <a:gdLst/>
              <a:ahLst/>
              <a:cxnLst/>
              <a:rect l="0" t="0" r="r" b="b"/>
              <a:pathLst>
                <a:path w="24000" h="33000" fill="none" stroke="1">
                  <a:moveTo>
                    <a:pt x="0" y="0"/>
                  </a:moveTo>
                  <a:cubicBezTo>
                    <a:pt x="0" y="0"/>
                    <a:pt x="24000" y="0"/>
                    <a:pt x="24000" y="33000"/>
                  </a:cubicBezTo>
                </a:path>
              </a:pathLst>
            </a:custGeom>
            <a:ln w="12954">
              <a:solidFill>
                <a:srgbClr val="FF8500"/>
              </a:solidFill>
              <a:round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local-rigid-attention-3"/>
            <p:cNvCxnSpPr/>
            <p:nvPr/>
          </p:nvCxnSpPr>
          <p:spPr>
            <a:xfrm>
              <a:off x="1943100" y="2598420"/>
              <a:ext cx="449580" cy="251460"/>
            </a:xfrm>
            <a:custGeom>
              <a:avLst/>
              <a:gdLst/>
              <a:ahLst/>
              <a:cxnLst/>
              <a:rect l="0" t="0" r="r" b="b"/>
              <a:pathLst>
                <a:path w="59000" h="33000" fill="none" stroke="1">
                  <a:moveTo>
                    <a:pt x="0" y="0"/>
                  </a:moveTo>
                  <a:cubicBezTo>
                    <a:pt x="0" y="0"/>
                    <a:pt x="59000" y="0"/>
                    <a:pt x="59000" y="33000"/>
                  </a:cubicBezTo>
                </a:path>
              </a:pathLst>
            </a:custGeom>
            <a:ln w="12954">
              <a:solidFill>
                <a:srgbClr val="FF8500"/>
              </a:solidFill>
              <a:round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local-rigid-output"/>
            <p:cNvCxnSpPr/>
            <p:nvPr/>
          </p:nvCxnSpPr>
          <p:spPr>
            <a:xfrm>
              <a:off x="3154679" y="3048000"/>
              <a:ext cx="236221" cy="762"/>
            </a:xfrm>
            <a:custGeom>
              <a:avLst/>
              <a:gdLst/>
              <a:ahLst/>
              <a:cxnLst/>
              <a:rect l="0" t="0" r="r" b="b"/>
              <a:pathLst>
                <a:path w="31000" h="100" fill="none" stroke="1">
                  <a:moveTo>
                    <a:pt x="0" y="0"/>
                  </a:moveTo>
                  <a:lnTo>
                    <a:pt x="31000" y="0"/>
                  </a:lnTo>
                </a:path>
              </a:pathLst>
            </a:custGeom>
            <a:ln w="17526">
              <a:solidFill>
                <a:srgbClr val="10121A"/>
              </a:solidFill>
              <a:round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local-rigid-output-0"/>
            <p:cNvSpPr/>
            <p:nvPr/>
          </p:nvSpPr>
          <p:spPr>
            <a:xfrm>
              <a:off x="3444240" y="2933700"/>
              <a:ext cx="236219" cy="236219"/>
            </a:xfrm>
            <a:prstGeom prst="rect">
              <a:avLst/>
            </a:prstGeom>
            <a:solidFill>
              <a:srgbClr val="FFE8BF"/>
            </a:solidFill>
            <a:ln w="13716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local-rigid-output-0-observation"/>
            <p:cNvSpPr/>
            <p:nvPr/>
          </p:nvSpPr>
          <p:spPr>
            <a:xfrm>
              <a:off x="3474719" y="2964179"/>
              <a:ext cx="82677" cy="82677"/>
            </a:xfrm>
            <a:prstGeom prst="ellipse">
              <a:avLst/>
            </a:prstGeom>
            <a:solidFill>
              <a:srgbClr val="A53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local-rigid-output-1"/>
            <p:cNvSpPr/>
            <p:nvPr/>
          </p:nvSpPr>
          <p:spPr>
            <a:xfrm>
              <a:off x="3749040" y="2933700"/>
              <a:ext cx="236219" cy="236219"/>
            </a:xfrm>
            <a:prstGeom prst="rect">
              <a:avLst/>
            </a:prstGeom>
            <a:solidFill>
              <a:srgbClr val="FFE8BF"/>
            </a:solidFill>
            <a:ln w="13716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9" name="local-rigid-output-1-hatch-a"/>
            <p:cNvCxnSpPr/>
            <p:nvPr/>
          </p:nvCxnSpPr>
          <p:spPr>
            <a:xfrm>
              <a:off x="3756660" y="2941320"/>
              <a:ext cx="22859" cy="22859"/>
            </a:xfrm>
            <a:custGeom>
              <a:avLst/>
              <a:gdLst/>
              <a:ahLst/>
              <a:cxnLst/>
              <a:rect l="0" t="0" r="r" b="b"/>
              <a:pathLst>
                <a:path w="3000" h="3000" fill="none" stroke="1">
                  <a:moveTo>
                    <a:pt x="0" y="3000"/>
                  </a:moveTo>
                  <a:lnTo>
                    <a:pt x="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local-rigid-output-1-hatch-b"/>
            <p:cNvCxnSpPr/>
            <p:nvPr/>
          </p:nvCxnSpPr>
          <p:spPr>
            <a:xfrm>
              <a:off x="3756660" y="2941320"/>
              <a:ext cx="60959" cy="60959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local-rigid-output-1-hatch-c"/>
            <p:cNvCxnSpPr/>
            <p:nvPr/>
          </p:nvCxnSpPr>
          <p:spPr>
            <a:xfrm>
              <a:off x="3756660" y="2941320"/>
              <a:ext cx="99059" cy="99059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local-rigid-output-1-hatch-d"/>
            <p:cNvCxnSpPr/>
            <p:nvPr/>
          </p:nvCxnSpPr>
          <p:spPr>
            <a:xfrm>
              <a:off x="3756660" y="2941320"/>
              <a:ext cx="137159" cy="137159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local-rigid-output-1-hatch-e"/>
            <p:cNvCxnSpPr/>
            <p:nvPr/>
          </p:nvCxnSpPr>
          <p:spPr>
            <a:xfrm>
              <a:off x="3756660" y="2941320"/>
              <a:ext cx="175259" cy="175259"/>
            </a:xfrm>
            <a:custGeom>
              <a:avLst/>
              <a:gdLst/>
              <a:ahLst/>
              <a:cxnLst/>
              <a:rect l="0" t="0" r="r" b="b"/>
              <a:pathLst>
                <a:path w="23000" h="23000" fill="none" stroke="1">
                  <a:moveTo>
                    <a:pt x="0" y="23000"/>
                  </a:moveTo>
                  <a:lnTo>
                    <a:pt x="2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local-rigid-output-1-hatch-f"/>
            <p:cNvCxnSpPr/>
            <p:nvPr/>
          </p:nvCxnSpPr>
          <p:spPr>
            <a:xfrm>
              <a:off x="3756660" y="2941320"/>
              <a:ext cx="213359" cy="213359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 stroke="1">
                  <a:moveTo>
                    <a:pt x="0" y="28000"/>
                  </a:moveTo>
                  <a:lnTo>
                    <a:pt x="2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local-rigid-output-1-hatch-g"/>
            <p:cNvCxnSpPr/>
            <p:nvPr/>
          </p:nvCxnSpPr>
          <p:spPr>
            <a:xfrm>
              <a:off x="3787140" y="2971800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25000" h="25000" fill="none" stroke="1">
                  <a:moveTo>
                    <a:pt x="0" y="25000"/>
                  </a:moveTo>
                  <a:lnTo>
                    <a:pt x="25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local-rigid-output-1-hatch-h"/>
            <p:cNvCxnSpPr/>
            <p:nvPr/>
          </p:nvCxnSpPr>
          <p:spPr>
            <a:xfrm>
              <a:off x="3825240" y="3009900"/>
              <a:ext cx="152400" cy="152400"/>
            </a:xfrm>
            <a:custGeom>
              <a:avLst/>
              <a:gdLst/>
              <a:ahLst/>
              <a:cxnLst/>
              <a:rect l="0" t="0" r="r" b="b"/>
              <a:pathLst>
                <a:path w="20000" h="20000" fill="none" stroke="1">
                  <a:moveTo>
                    <a:pt x="0" y="20000"/>
                  </a:moveTo>
                  <a:lnTo>
                    <a:pt x="20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local-rigid-output-1-hatch-i"/>
            <p:cNvCxnSpPr/>
            <p:nvPr/>
          </p:nvCxnSpPr>
          <p:spPr>
            <a:xfrm>
              <a:off x="3863340" y="3048000"/>
              <a:ext cx="114300" cy="114300"/>
            </a:xfrm>
            <a:custGeom>
              <a:avLst/>
              <a:gdLst/>
              <a:ahLst/>
              <a:cxnLst/>
              <a:rect l="0" t="0" r="r" b="b"/>
              <a:pathLst>
                <a:path w="15000" h="15000" fill="none" stroke="1">
                  <a:moveTo>
                    <a:pt x="0" y="15000"/>
                  </a:moveTo>
                  <a:lnTo>
                    <a:pt x="15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local-rigid-output-1-hatch-j"/>
            <p:cNvCxnSpPr/>
            <p:nvPr/>
          </p:nvCxnSpPr>
          <p:spPr>
            <a:xfrm>
              <a:off x="3901440" y="3086100"/>
              <a:ext cx="76200" cy="76200"/>
            </a:xfrm>
            <a:custGeom>
              <a:avLst/>
              <a:gdLst/>
              <a:ahLst/>
              <a:cxnLst/>
              <a:rect l="0" t="0" r="r" b="b"/>
              <a:pathLst>
                <a:path w="10000" h="10000" fill="none" stroke="1">
                  <a:moveTo>
                    <a:pt x="0" y="10000"/>
                  </a:moveTo>
                  <a:lnTo>
                    <a:pt x="10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local-rigid-output-1-hatch-k"/>
            <p:cNvCxnSpPr/>
            <p:nvPr/>
          </p:nvCxnSpPr>
          <p:spPr>
            <a:xfrm>
              <a:off x="3939540" y="3124200"/>
              <a:ext cx="38100" cy="38100"/>
            </a:xfrm>
            <a:custGeom>
              <a:avLst/>
              <a:gdLst/>
              <a:ahLst/>
              <a:cxnLst/>
              <a:rect l="0" t="0" r="r" b="b"/>
              <a:pathLst>
                <a:path w="5000" h="5000" fill="none" stroke="1">
                  <a:moveTo>
                    <a:pt x="0" y="5000"/>
                  </a:moveTo>
                  <a:lnTo>
                    <a:pt x="5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local-rigid-output-2"/>
            <p:cNvSpPr/>
            <p:nvPr/>
          </p:nvSpPr>
          <p:spPr>
            <a:xfrm>
              <a:off x="4053840" y="2933700"/>
              <a:ext cx="236219" cy="236219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local-rigid-output-ellipsis-0"/>
            <p:cNvSpPr/>
            <p:nvPr/>
          </p:nvSpPr>
          <p:spPr>
            <a:xfrm>
              <a:off x="4351020" y="3032760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local-rigid-output-ellipsis-1"/>
            <p:cNvSpPr/>
            <p:nvPr/>
          </p:nvSpPr>
          <p:spPr>
            <a:xfrm>
              <a:off x="4419600" y="3032760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local-rigid-output-ellipsis-2"/>
            <p:cNvSpPr/>
            <p:nvPr/>
          </p:nvSpPr>
          <p:spPr>
            <a:xfrm>
              <a:off x="4488180" y="3032760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local-human-label"/>
            <p:cNvSpPr txBox="1"/>
            <p:nvPr/>
          </p:nvSpPr>
          <p:spPr>
            <a:xfrm>
              <a:off x="289560" y="3467100"/>
              <a:ext cx="952500" cy="43433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Human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(assets)</a:t>
              </a:r>
            </a:p>
          </p:txBody>
        </p:sp>
        <p:sp>
          <p:nvSpPr>
            <p:cNvPr id="105" name="local-human-frame"/>
            <p:cNvSpPr/>
            <p:nvPr/>
          </p:nvSpPr>
          <p:spPr>
            <a:xfrm>
              <a:off x="1257300" y="3429000"/>
              <a:ext cx="1874520" cy="396240"/>
            </a:xfrm>
            <a:prstGeom prst="roundRect">
              <a:avLst>
                <a:gd name="adj" fmla="val 15384"/>
              </a:avLst>
            </a:prstGeom>
            <a:solidFill>
              <a:srgbClr val="F1FDF9"/>
            </a:solidFill>
            <a:ln w="6858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local-human-token-0"/>
            <p:cNvSpPr/>
            <p:nvPr/>
          </p:nvSpPr>
          <p:spPr>
            <a:xfrm>
              <a:off x="1333500" y="3505200"/>
              <a:ext cx="243840" cy="243840"/>
            </a:xfrm>
            <a:prstGeom prst="rect">
              <a:avLst/>
            </a:prstGeom>
            <a:solidFill>
              <a:srgbClr val="C9F0DF"/>
            </a:solidFill>
            <a:ln w="13716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local-human-token-0-observation"/>
            <p:cNvSpPr/>
            <p:nvPr/>
          </p:nvSpPr>
          <p:spPr>
            <a:xfrm>
              <a:off x="1363980" y="3535679"/>
              <a:ext cx="85344" cy="85344"/>
            </a:xfrm>
            <a:prstGeom prst="ellipse">
              <a:avLst/>
            </a:prstGeom>
            <a:solidFill>
              <a:srgbClr val="0083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local-human-token-1"/>
            <p:cNvSpPr/>
            <p:nvPr/>
          </p:nvSpPr>
          <p:spPr>
            <a:xfrm>
              <a:off x="1699259" y="3505200"/>
              <a:ext cx="243840" cy="243840"/>
            </a:xfrm>
            <a:prstGeom prst="rect">
              <a:avLst/>
            </a:prstGeom>
            <a:solidFill>
              <a:srgbClr val="C9F0DF"/>
            </a:solidFill>
            <a:ln w="13716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local-human-token-2"/>
            <p:cNvSpPr/>
            <p:nvPr/>
          </p:nvSpPr>
          <p:spPr>
            <a:xfrm>
              <a:off x="2065020" y="3505200"/>
              <a:ext cx="243840" cy="243840"/>
            </a:xfrm>
            <a:prstGeom prst="rect">
              <a:avLst/>
            </a:prstGeom>
            <a:solidFill>
              <a:srgbClr val="C9F0DF"/>
            </a:solidFill>
            <a:ln w="13716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0" name="local-human-token-2-hatch-a"/>
            <p:cNvCxnSpPr/>
            <p:nvPr/>
          </p:nvCxnSpPr>
          <p:spPr>
            <a:xfrm>
              <a:off x="2072639" y="3512819"/>
              <a:ext cx="22861" cy="22860"/>
            </a:xfrm>
            <a:custGeom>
              <a:avLst/>
              <a:gdLst/>
              <a:ahLst/>
              <a:cxnLst/>
              <a:rect l="0" t="0" r="r" b="b"/>
              <a:pathLst>
                <a:path w="3000" h="3000" fill="none" stroke="1">
                  <a:moveTo>
                    <a:pt x="0" y="3000"/>
                  </a:moveTo>
                  <a:lnTo>
                    <a:pt x="3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local-human-token-2-hatch-b"/>
            <p:cNvCxnSpPr/>
            <p:nvPr/>
          </p:nvCxnSpPr>
          <p:spPr>
            <a:xfrm>
              <a:off x="2072639" y="3512819"/>
              <a:ext cx="60961" cy="60960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local-human-token-2-hatch-c"/>
            <p:cNvCxnSpPr/>
            <p:nvPr/>
          </p:nvCxnSpPr>
          <p:spPr>
            <a:xfrm>
              <a:off x="2072639" y="3512819"/>
              <a:ext cx="99061" cy="99060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local-human-token-2-hatch-d"/>
            <p:cNvCxnSpPr/>
            <p:nvPr/>
          </p:nvCxnSpPr>
          <p:spPr>
            <a:xfrm>
              <a:off x="2072639" y="3512819"/>
              <a:ext cx="137161" cy="137160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local-human-token-2-hatch-e"/>
            <p:cNvCxnSpPr/>
            <p:nvPr/>
          </p:nvCxnSpPr>
          <p:spPr>
            <a:xfrm>
              <a:off x="2072639" y="3512819"/>
              <a:ext cx="175261" cy="175260"/>
            </a:xfrm>
            <a:custGeom>
              <a:avLst/>
              <a:gdLst/>
              <a:ahLst/>
              <a:cxnLst/>
              <a:rect l="0" t="0" r="r" b="b"/>
              <a:pathLst>
                <a:path w="23000" h="23000" fill="none" stroke="1">
                  <a:moveTo>
                    <a:pt x="0" y="23000"/>
                  </a:moveTo>
                  <a:lnTo>
                    <a:pt x="23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local-human-token-2-hatch-f"/>
            <p:cNvCxnSpPr/>
            <p:nvPr/>
          </p:nvCxnSpPr>
          <p:spPr>
            <a:xfrm>
              <a:off x="2072639" y="3512819"/>
              <a:ext cx="213361" cy="213360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 stroke="1">
                  <a:moveTo>
                    <a:pt x="0" y="28000"/>
                  </a:moveTo>
                  <a:lnTo>
                    <a:pt x="28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local-human-token-2-hatch-g"/>
            <p:cNvCxnSpPr/>
            <p:nvPr/>
          </p:nvCxnSpPr>
          <p:spPr>
            <a:xfrm>
              <a:off x="2095500" y="3535679"/>
              <a:ext cx="205740" cy="205740"/>
            </a:xfrm>
            <a:custGeom>
              <a:avLst/>
              <a:gdLst/>
              <a:ahLst/>
              <a:cxnLst/>
              <a:rect l="0" t="0" r="r" b="b"/>
              <a:pathLst>
                <a:path w="27000" h="27000" fill="none" stroke="1">
                  <a:moveTo>
                    <a:pt x="0" y="27000"/>
                  </a:moveTo>
                  <a:lnTo>
                    <a:pt x="27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local-human-token-2-hatch-h"/>
            <p:cNvCxnSpPr/>
            <p:nvPr/>
          </p:nvCxnSpPr>
          <p:spPr>
            <a:xfrm>
              <a:off x="2133600" y="3573779"/>
              <a:ext cx="167640" cy="167640"/>
            </a:xfrm>
            <a:custGeom>
              <a:avLst/>
              <a:gdLst/>
              <a:ahLst/>
              <a:cxnLst/>
              <a:rect l="0" t="0" r="r" b="b"/>
              <a:pathLst>
                <a:path w="22000" h="22000" fill="none" stroke="1">
                  <a:moveTo>
                    <a:pt x="0" y="22000"/>
                  </a:moveTo>
                  <a:lnTo>
                    <a:pt x="22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local-human-token-2-hatch-i"/>
            <p:cNvCxnSpPr/>
            <p:nvPr/>
          </p:nvCxnSpPr>
          <p:spPr>
            <a:xfrm>
              <a:off x="2171700" y="3611879"/>
              <a:ext cx="129540" cy="129540"/>
            </a:xfrm>
            <a:custGeom>
              <a:avLst/>
              <a:gdLst/>
              <a:ahLst/>
              <a:cxnLst/>
              <a:rect l="0" t="0" r="r" b="b"/>
              <a:pathLst>
                <a:path w="17000" h="17000" fill="none" stroke="1">
                  <a:moveTo>
                    <a:pt x="0" y="17000"/>
                  </a:moveTo>
                  <a:lnTo>
                    <a:pt x="17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local-human-token-2-hatch-j"/>
            <p:cNvCxnSpPr/>
            <p:nvPr/>
          </p:nvCxnSpPr>
          <p:spPr>
            <a:xfrm>
              <a:off x="2209800" y="3649979"/>
              <a:ext cx="91440" cy="91440"/>
            </a:xfrm>
            <a:custGeom>
              <a:avLst/>
              <a:gdLst/>
              <a:ahLst/>
              <a:cxnLst/>
              <a:rect l="0" t="0" r="r" b="b"/>
              <a:pathLst>
                <a:path w="12000" h="12000" fill="none" stroke="1">
                  <a:moveTo>
                    <a:pt x="0" y="12000"/>
                  </a:moveTo>
                  <a:lnTo>
                    <a:pt x="12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local-human-token-2-hatch-k"/>
            <p:cNvCxnSpPr/>
            <p:nvPr/>
          </p:nvCxnSpPr>
          <p:spPr>
            <a:xfrm>
              <a:off x="2247900" y="3688079"/>
              <a:ext cx="53340" cy="53340"/>
            </a:xfrm>
            <a:custGeom>
              <a:avLst/>
              <a:gdLst/>
              <a:ahLst/>
              <a:cxnLst/>
              <a:rect l="0" t="0" r="r" b="b"/>
              <a:pathLst>
                <a:path w="7000" h="7000" fill="none" stroke="1">
                  <a:moveTo>
                    <a:pt x="0" y="7000"/>
                  </a:moveTo>
                  <a:lnTo>
                    <a:pt x="7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local-human-token-2-hatch-l"/>
            <p:cNvCxnSpPr/>
            <p:nvPr/>
          </p:nvCxnSpPr>
          <p:spPr>
            <a:xfrm>
              <a:off x="2286000" y="3726179"/>
              <a:ext cx="15240" cy="15240"/>
            </a:xfrm>
            <a:custGeom>
              <a:avLst/>
              <a:gdLst/>
              <a:ahLst/>
              <a:cxnLst/>
              <a:rect l="0" t="0" r="r" b="b"/>
              <a:pathLst>
                <a:path w="2000" h="2000" fill="none" stroke="1">
                  <a:moveTo>
                    <a:pt x="0" y="2000"/>
                  </a:moveTo>
                  <a:lnTo>
                    <a:pt x="2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local-human-token-3"/>
            <p:cNvSpPr/>
            <p:nvPr/>
          </p:nvSpPr>
          <p:spPr>
            <a:xfrm>
              <a:off x="2430780" y="3505200"/>
              <a:ext cx="243840" cy="24384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local-human-ellipsis-0"/>
            <p:cNvSpPr/>
            <p:nvPr/>
          </p:nvSpPr>
          <p:spPr>
            <a:xfrm>
              <a:off x="2804160" y="3611879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local-human-ellipsis-1"/>
            <p:cNvSpPr/>
            <p:nvPr/>
          </p:nvSpPr>
          <p:spPr>
            <a:xfrm>
              <a:off x="2887980" y="3611879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local-human-ellipsis-2"/>
            <p:cNvSpPr/>
            <p:nvPr/>
          </p:nvSpPr>
          <p:spPr>
            <a:xfrm>
              <a:off x="2971800" y="3611879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6" name="local-human-attention-0"/>
            <p:cNvCxnSpPr/>
            <p:nvPr/>
          </p:nvCxnSpPr>
          <p:spPr>
            <a:xfrm>
              <a:off x="1508760" y="3177540"/>
              <a:ext cx="434340" cy="251460"/>
            </a:xfrm>
            <a:custGeom>
              <a:avLst/>
              <a:gdLst/>
              <a:ahLst/>
              <a:cxnLst/>
              <a:rect l="0" t="0" r="r" b="b"/>
              <a:pathLst>
                <a:path w="57000" h="33000" fill="none" stroke="1">
                  <a:moveTo>
                    <a:pt x="57000" y="0"/>
                  </a:moveTo>
                  <a:cubicBezTo>
                    <a:pt x="57000" y="0"/>
                    <a:pt x="0" y="0"/>
                    <a:pt x="0" y="33000"/>
                  </a:cubicBezTo>
                </a:path>
              </a:pathLst>
            </a:custGeom>
            <a:ln w="12954">
              <a:solidFill>
                <a:srgbClr val="00B883"/>
              </a:solidFill>
              <a:round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local-human-attention-1"/>
            <p:cNvCxnSpPr/>
            <p:nvPr/>
          </p:nvCxnSpPr>
          <p:spPr>
            <a:xfrm>
              <a:off x="1813559" y="3177540"/>
              <a:ext cx="129541" cy="251460"/>
            </a:xfrm>
            <a:custGeom>
              <a:avLst/>
              <a:gdLst/>
              <a:ahLst/>
              <a:cxnLst/>
              <a:rect l="0" t="0" r="r" b="b"/>
              <a:pathLst>
                <a:path w="17000" h="33000" fill="none" stroke="1">
                  <a:moveTo>
                    <a:pt x="17000" y="0"/>
                  </a:moveTo>
                  <a:cubicBezTo>
                    <a:pt x="17000" y="0"/>
                    <a:pt x="0" y="0"/>
                    <a:pt x="0" y="33000"/>
                  </a:cubicBezTo>
                </a:path>
              </a:pathLst>
            </a:custGeom>
            <a:ln w="12954">
              <a:solidFill>
                <a:srgbClr val="00B883"/>
              </a:solidFill>
              <a:round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local-human-attention-2"/>
            <p:cNvCxnSpPr/>
            <p:nvPr/>
          </p:nvCxnSpPr>
          <p:spPr>
            <a:xfrm>
              <a:off x="1943100" y="3177540"/>
              <a:ext cx="182880" cy="251460"/>
            </a:xfrm>
            <a:custGeom>
              <a:avLst/>
              <a:gdLst/>
              <a:ahLst/>
              <a:cxnLst/>
              <a:rect l="0" t="0" r="r" b="b"/>
              <a:pathLst>
                <a:path w="24000" h="33000" fill="none" stroke="1">
                  <a:moveTo>
                    <a:pt x="0" y="0"/>
                  </a:moveTo>
                  <a:cubicBezTo>
                    <a:pt x="0" y="0"/>
                    <a:pt x="24000" y="0"/>
                    <a:pt x="24000" y="33000"/>
                  </a:cubicBezTo>
                </a:path>
              </a:pathLst>
            </a:custGeom>
            <a:ln w="12954">
              <a:solidFill>
                <a:srgbClr val="00B883"/>
              </a:solidFill>
              <a:round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local-human-attention-3"/>
            <p:cNvCxnSpPr/>
            <p:nvPr/>
          </p:nvCxnSpPr>
          <p:spPr>
            <a:xfrm>
              <a:off x="1943100" y="3177540"/>
              <a:ext cx="449580" cy="251460"/>
            </a:xfrm>
            <a:custGeom>
              <a:avLst/>
              <a:gdLst/>
              <a:ahLst/>
              <a:cxnLst/>
              <a:rect l="0" t="0" r="r" b="b"/>
              <a:pathLst>
                <a:path w="59000" h="33000" fill="none" stroke="1">
                  <a:moveTo>
                    <a:pt x="0" y="0"/>
                  </a:moveTo>
                  <a:cubicBezTo>
                    <a:pt x="0" y="0"/>
                    <a:pt x="59000" y="0"/>
                    <a:pt x="59000" y="33000"/>
                  </a:cubicBezTo>
                </a:path>
              </a:pathLst>
            </a:custGeom>
            <a:ln w="12954">
              <a:solidFill>
                <a:srgbClr val="00B883"/>
              </a:solidFill>
              <a:round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local-human-output"/>
            <p:cNvCxnSpPr/>
            <p:nvPr/>
          </p:nvCxnSpPr>
          <p:spPr>
            <a:xfrm>
              <a:off x="3154679" y="3627119"/>
              <a:ext cx="236221" cy="763"/>
            </a:xfrm>
            <a:custGeom>
              <a:avLst/>
              <a:gdLst/>
              <a:ahLst/>
              <a:cxnLst/>
              <a:rect l="0" t="0" r="r" b="b"/>
              <a:pathLst>
                <a:path w="31000" h="100" fill="none" stroke="1">
                  <a:moveTo>
                    <a:pt x="0" y="0"/>
                  </a:moveTo>
                  <a:lnTo>
                    <a:pt x="31000" y="0"/>
                  </a:lnTo>
                </a:path>
              </a:pathLst>
            </a:custGeom>
            <a:ln w="17526">
              <a:solidFill>
                <a:srgbClr val="10121A"/>
              </a:solidFill>
              <a:round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local-human-output-0"/>
            <p:cNvSpPr/>
            <p:nvPr/>
          </p:nvSpPr>
          <p:spPr>
            <a:xfrm>
              <a:off x="3444240" y="3512819"/>
              <a:ext cx="236219" cy="236219"/>
            </a:xfrm>
            <a:prstGeom prst="rect">
              <a:avLst/>
            </a:prstGeom>
            <a:solidFill>
              <a:srgbClr val="C9F0DF"/>
            </a:solidFill>
            <a:ln w="13716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local-human-output-0-observation"/>
            <p:cNvSpPr/>
            <p:nvPr/>
          </p:nvSpPr>
          <p:spPr>
            <a:xfrm>
              <a:off x="3474719" y="3543300"/>
              <a:ext cx="82677" cy="82677"/>
            </a:xfrm>
            <a:prstGeom prst="ellipse">
              <a:avLst/>
            </a:prstGeom>
            <a:solidFill>
              <a:srgbClr val="0083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local-human-output-1"/>
            <p:cNvSpPr/>
            <p:nvPr/>
          </p:nvSpPr>
          <p:spPr>
            <a:xfrm>
              <a:off x="3749040" y="3512819"/>
              <a:ext cx="236219" cy="236219"/>
            </a:xfrm>
            <a:prstGeom prst="rect">
              <a:avLst/>
            </a:prstGeom>
            <a:solidFill>
              <a:srgbClr val="C9F0DF"/>
            </a:solidFill>
            <a:ln w="13716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4" name="local-human-output-1-hatch-a"/>
            <p:cNvCxnSpPr/>
            <p:nvPr/>
          </p:nvCxnSpPr>
          <p:spPr>
            <a:xfrm>
              <a:off x="3756660" y="3520440"/>
              <a:ext cx="22859" cy="22860"/>
            </a:xfrm>
            <a:custGeom>
              <a:avLst/>
              <a:gdLst/>
              <a:ahLst/>
              <a:cxnLst/>
              <a:rect l="0" t="0" r="r" b="b"/>
              <a:pathLst>
                <a:path w="3000" h="3000" fill="none" stroke="1">
                  <a:moveTo>
                    <a:pt x="0" y="3000"/>
                  </a:moveTo>
                  <a:lnTo>
                    <a:pt x="3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local-human-output-1-hatch-b"/>
            <p:cNvCxnSpPr/>
            <p:nvPr/>
          </p:nvCxnSpPr>
          <p:spPr>
            <a:xfrm>
              <a:off x="3756660" y="3520440"/>
              <a:ext cx="60959" cy="60960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local-human-output-1-hatch-c"/>
            <p:cNvCxnSpPr/>
            <p:nvPr/>
          </p:nvCxnSpPr>
          <p:spPr>
            <a:xfrm>
              <a:off x="3756660" y="3520440"/>
              <a:ext cx="99059" cy="99060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local-human-output-1-hatch-d"/>
            <p:cNvCxnSpPr/>
            <p:nvPr/>
          </p:nvCxnSpPr>
          <p:spPr>
            <a:xfrm>
              <a:off x="3756660" y="3520440"/>
              <a:ext cx="137159" cy="137160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local-human-output-1-hatch-e"/>
            <p:cNvCxnSpPr/>
            <p:nvPr/>
          </p:nvCxnSpPr>
          <p:spPr>
            <a:xfrm>
              <a:off x="3756660" y="3520440"/>
              <a:ext cx="175259" cy="175260"/>
            </a:xfrm>
            <a:custGeom>
              <a:avLst/>
              <a:gdLst/>
              <a:ahLst/>
              <a:cxnLst/>
              <a:rect l="0" t="0" r="r" b="b"/>
              <a:pathLst>
                <a:path w="23000" h="23000" fill="none" stroke="1">
                  <a:moveTo>
                    <a:pt x="0" y="23000"/>
                  </a:moveTo>
                  <a:lnTo>
                    <a:pt x="23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local-human-output-1-hatch-f"/>
            <p:cNvCxnSpPr/>
            <p:nvPr/>
          </p:nvCxnSpPr>
          <p:spPr>
            <a:xfrm>
              <a:off x="3756660" y="3520440"/>
              <a:ext cx="213359" cy="213360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 stroke="1">
                  <a:moveTo>
                    <a:pt x="0" y="28000"/>
                  </a:moveTo>
                  <a:lnTo>
                    <a:pt x="28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local-human-output-1-hatch-g"/>
            <p:cNvCxnSpPr/>
            <p:nvPr/>
          </p:nvCxnSpPr>
          <p:spPr>
            <a:xfrm>
              <a:off x="3787140" y="3550919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25000" h="25000" fill="none" stroke="1">
                  <a:moveTo>
                    <a:pt x="0" y="25000"/>
                  </a:moveTo>
                  <a:lnTo>
                    <a:pt x="25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local-human-output-1-hatch-h"/>
            <p:cNvCxnSpPr/>
            <p:nvPr/>
          </p:nvCxnSpPr>
          <p:spPr>
            <a:xfrm>
              <a:off x="3825240" y="3589019"/>
              <a:ext cx="152400" cy="152400"/>
            </a:xfrm>
            <a:custGeom>
              <a:avLst/>
              <a:gdLst/>
              <a:ahLst/>
              <a:cxnLst/>
              <a:rect l="0" t="0" r="r" b="b"/>
              <a:pathLst>
                <a:path w="20000" h="20000" fill="none" stroke="1">
                  <a:moveTo>
                    <a:pt x="0" y="20000"/>
                  </a:moveTo>
                  <a:lnTo>
                    <a:pt x="20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local-human-output-1-hatch-i"/>
            <p:cNvCxnSpPr/>
            <p:nvPr/>
          </p:nvCxnSpPr>
          <p:spPr>
            <a:xfrm>
              <a:off x="3863340" y="3627119"/>
              <a:ext cx="114300" cy="114300"/>
            </a:xfrm>
            <a:custGeom>
              <a:avLst/>
              <a:gdLst/>
              <a:ahLst/>
              <a:cxnLst/>
              <a:rect l="0" t="0" r="r" b="b"/>
              <a:pathLst>
                <a:path w="15000" h="15000" fill="none" stroke="1">
                  <a:moveTo>
                    <a:pt x="0" y="15000"/>
                  </a:moveTo>
                  <a:lnTo>
                    <a:pt x="15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local-human-output-1-hatch-j"/>
            <p:cNvCxnSpPr/>
            <p:nvPr/>
          </p:nvCxnSpPr>
          <p:spPr>
            <a:xfrm>
              <a:off x="3901440" y="3665219"/>
              <a:ext cx="76200" cy="76200"/>
            </a:xfrm>
            <a:custGeom>
              <a:avLst/>
              <a:gdLst/>
              <a:ahLst/>
              <a:cxnLst/>
              <a:rect l="0" t="0" r="r" b="b"/>
              <a:pathLst>
                <a:path w="10000" h="10000" fill="none" stroke="1">
                  <a:moveTo>
                    <a:pt x="0" y="10000"/>
                  </a:moveTo>
                  <a:lnTo>
                    <a:pt x="10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local-human-output-1-hatch-k"/>
            <p:cNvCxnSpPr/>
            <p:nvPr/>
          </p:nvCxnSpPr>
          <p:spPr>
            <a:xfrm>
              <a:off x="3939540" y="3703319"/>
              <a:ext cx="38100" cy="38100"/>
            </a:xfrm>
            <a:custGeom>
              <a:avLst/>
              <a:gdLst/>
              <a:ahLst/>
              <a:cxnLst/>
              <a:rect l="0" t="0" r="r" b="b"/>
              <a:pathLst>
                <a:path w="5000" h="5000" fill="none" stroke="1">
                  <a:moveTo>
                    <a:pt x="0" y="5000"/>
                  </a:moveTo>
                  <a:lnTo>
                    <a:pt x="5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local-human-output-2"/>
            <p:cNvSpPr/>
            <p:nvPr/>
          </p:nvSpPr>
          <p:spPr>
            <a:xfrm>
              <a:off x="4053840" y="3512819"/>
              <a:ext cx="236219" cy="236219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local-human-output-ellipsis-0"/>
            <p:cNvSpPr/>
            <p:nvPr/>
          </p:nvSpPr>
          <p:spPr>
            <a:xfrm>
              <a:off x="4351020" y="3611879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local-human-output-ellipsis-1"/>
            <p:cNvSpPr/>
            <p:nvPr/>
          </p:nvSpPr>
          <p:spPr>
            <a:xfrm>
              <a:off x="4419600" y="3611879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local-human-output-ellipsis-2"/>
            <p:cNvSpPr/>
            <p:nvPr/>
          </p:nvSpPr>
          <p:spPr>
            <a:xfrm>
              <a:off x="4488180" y="3611879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9" name="region-shared-memory"/>
          <p:cNvGrpSpPr/>
          <p:nvPr/>
        </p:nvGrpSpPr>
        <p:grpSpPr>
          <a:xfrm>
            <a:off x="5737860" y="1455420"/>
            <a:ext cx="2217420" cy="723900"/>
            <a:chOff x="5737860" y="1455420"/>
            <a:chExt cx="2217420" cy="723900"/>
          </a:xfrm>
        </p:grpSpPr>
        <p:sp>
          <p:nvSpPr>
            <p:cNvPr id="150" name="memory-panel"/>
            <p:cNvSpPr/>
            <p:nvPr/>
          </p:nvSpPr>
          <p:spPr>
            <a:xfrm>
              <a:off x="5737860" y="1455420"/>
              <a:ext cx="2217420" cy="723900"/>
            </a:xfrm>
            <a:prstGeom prst="roundRect">
              <a:avLst>
                <a:gd name="adj" fmla="val 10526"/>
              </a:avLst>
            </a:prstGeom>
            <a:solidFill>
              <a:srgbClr val="F5F0FF"/>
            </a:solidFill>
            <a:ln w="10668">
              <a:solidFill>
                <a:srgbClr val="C5AD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memory-title"/>
            <p:cNvSpPr txBox="1"/>
            <p:nvPr/>
          </p:nvSpPr>
          <p:spPr>
            <a:xfrm>
              <a:off x="5943600" y="1501139"/>
              <a:ext cx="1905000" cy="2819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39" b="1" i="0">
                  <a:solidFill>
                    <a:srgbClr val="10121A"/>
                  </a:solidFill>
                  <a:latin typeface="Times New Roman"/>
                </a:rPr>
                <a:t>Shared memory </a:t>
              </a:r>
              <a:r>
                <a:rPr sz="1739" b="1" i="1">
                  <a:solidFill>
                    <a:srgbClr val="10121A"/>
                  </a:solidFill>
                  <a:latin typeface="Times New Roman"/>
                </a:rPr>
                <a:t>M</a:t>
              </a:r>
            </a:p>
          </p:txBody>
        </p:sp>
        <p:sp>
          <p:nvSpPr>
            <p:cNvPr id="152" name="memory-token-0"/>
            <p:cNvSpPr/>
            <p:nvPr/>
          </p:nvSpPr>
          <p:spPr>
            <a:xfrm>
              <a:off x="6111240" y="1851659"/>
              <a:ext cx="228600" cy="228600"/>
            </a:xfrm>
            <a:prstGeom prst="rect">
              <a:avLst/>
            </a:prstGeom>
            <a:solidFill>
              <a:srgbClr val="E0D3FF"/>
            </a:solidFill>
            <a:ln w="13716">
              <a:solidFill>
                <a:srgbClr val="8B5C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memory-token-1"/>
            <p:cNvSpPr/>
            <p:nvPr/>
          </p:nvSpPr>
          <p:spPr>
            <a:xfrm>
              <a:off x="6438900" y="1851659"/>
              <a:ext cx="228600" cy="228600"/>
            </a:xfrm>
            <a:prstGeom prst="rect">
              <a:avLst/>
            </a:prstGeom>
            <a:solidFill>
              <a:srgbClr val="E0D3FF"/>
            </a:solidFill>
            <a:ln w="13716">
              <a:solidFill>
                <a:srgbClr val="8B5C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memory-token-2"/>
            <p:cNvSpPr/>
            <p:nvPr/>
          </p:nvSpPr>
          <p:spPr>
            <a:xfrm>
              <a:off x="6766559" y="1851659"/>
              <a:ext cx="228600" cy="228600"/>
            </a:xfrm>
            <a:prstGeom prst="rect">
              <a:avLst/>
            </a:prstGeom>
            <a:solidFill>
              <a:srgbClr val="E0D3FF"/>
            </a:solidFill>
            <a:ln w="13716">
              <a:solidFill>
                <a:srgbClr val="8B5C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memory-token-3"/>
            <p:cNvSpPr/>
            <p:nvPr/>
          </p:nvSpPr>
          <p:spPr>
            <a:xfrm>
              <a:off x="7094220" y="1851659"/>
              <a:ext cx="228600" cy="22860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memory-ellipsis-0"/>
            <p:cNvSpPr/>
            <p:nvPr/>
          </p:nvSpPr>
          <p:spPr>
            <a:xfrm>
              <a:off x="7437120" y="194310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memory-ellipsis-1"/>
            <p:cNvSpPr/>
            <p:nvPr/>
          </p:nvSpPr>
          <p:spPr>
            <a:xfrm>
              <a:off x="7528559" y="194310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memory-ellipsis-2"/>
            <p:cNvSpPr/>
            <p:nvPr/>
          </p:nvSpPr>
          <p:spPr>
            <a:xfrm>
              <a:off x="7620000" y="194310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9" name="region-ccm-read-write"/>
          <p:cNvGrpSpPr/>
          <p:nvPr/>
        </p:nvGrpSpPr>
        <p:grpSpPr>
          <a:xfrm>
            <a:off x="4899660" y="2171700"/>
            <a:ext cx="5196840" cy="2110740"/>
            <a:chOff x="4899660" y="2171700"/>
            <a:chExt cx="5196840" cy="2110740"/>
          </a:xfrm>
        </p:grpSpPr>
        <p:sp>
          <p:nvSpPr>
            <p:cNvPr id="160" name="read-panel"/>
            <p:cNvSpPr/>
            <p:nvPr/>
          </p:nvSpPr>
          <p:spPr>
            <a:xfrm>
              <a:off x="5745480" y="2484120"/>
              <a:ext cx="2240280" cy="777240"/>
            </a:xfrm>
            <a:prstGeom prst="roundRect">
              <a:avLst>
                <a:gd name="adj" fmla="val 12745"/>
              </a:avLst>
            </a:prstGeom>
            <a:solidFill>
              <a:srgbClr val="F1EAFE"/>
            </a:solidFill>
            <a:ln w="12192">
              <a:solidFill>
                <a:srgbClr val="8B5C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read-title"/>
            <p:cNvSpPr txBox="1"/>
            <p:nvPr/>
          </p:nvSpPr>
          <p:spPr>
            <a:xfrm>
              <a:off x="5935980" y="2590800"/>
              <a:ext cx="185928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59" b="1" i="0">
                  <a:solidFill>
                    <a:srgbClr val="10121A"/>
                  </a:solidFill>
                  <a:latin typeface="Times New Roman"/>
                </a:rPr>
                <a:t>CCM Read</a:t>
              </a:r>
            </a:p>
          </p:txBody>
        </p:sp>
        <p:sp>
          <p:nvSpPr>
            <p:cNvPr id="162" name="read-equation"/>
            <p:cNvSpPr txBox="1"/>
            <p:nvPr/>
          </p:nvSpPr>
          <p:spPr>
            <a:xfrm>
              <a:off x="5867400" y="2933700"/>
              <a:ext cx="2004059" cy="25907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0121A"/>
                  </a:solidFill>
                  <a:latin typeface="Times New Roman"/>
                </a:rPr>
                <a:t>M</a:t>
              </a: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′ = </a:t>
              </a:r>
              <a:r>
                <a:rPr sz="1500" b="0" i="1">
                  <a:solidFill>
                    <a:srgbClr val="10121A"/>
                  </a:solidFill>
                  <a:latin typeface="Times New Roman"/>
                </a:rPr>
                <a:t>M</a:t>
              </a: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 + Attn</a:t>
              </a:r>
              <a:r>
                <a:rPr sz="1080" b="0" i="0" baseline="-25000">
                  <a:solidFill>
                    <a:srgbClr val="10121A"/>
                  </a:solidFill>
                  <a:latin typeface="Times New Roman"/>
                </a:rPr>
                <a:t>r</a:t>
              </a: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(</a:t>
              </a:r>
              <a:r>
                <a:rPr sz="1500" b="0" i="1">
                  <a:solidFill>
                    <a:srgbClr val="10121A"/>
                  </a:solidFill>
                  <a:latin typeface="Times New Roman"/>
                </a:rPr>
                <a:t>M</a:t>
              </a: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, </a:t>
              </a:r>
              <a:r>
                <a:rPr sz="1500" b="0" i="1">
                  <a:solidFill>
                    <a:srgbClr val="10121A"/>
                  </a:solidFill>
                  <a:latin typeface="Times New Roman"/>
                </a:rPr>
                <a:t>X̃</a:t>
              </a: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, </a:t>
              </a:r>
              <a:r>
                <a:rPr sz="1500" b="0" i="1">
                  <a:solidFill>
                    <a:srgbClr val="10121A"/>
                  </a:solidFill>
                  <a:latin typeface="Times New Roman"/>
                </a:rPr>
                <a:t>X̃</a:t>
              </a: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)</a:t>
              </a:r>
            </a:p>
          </p:txBody>
        </p:sp>
        <p:sp>
          <p:nvSpPr>
            <p:cNvPr id="163" name="updated-memory-title"/>
            <p:cNvSpPr txBox="1"/>
            <p:nvPr/>
          </p:nvSpPr>
          <p:spPr>
            <a:xfrm>
              <a:off x="8382000" y="2324100"/>
              <a:ext cx="171450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i="0">
                  <a:solidFill>
                    <a:srgbClr val="10121A"/>
                  </a:solidFill>
                  <a:latin typeface="Times New Roman"/>
                </a:rPr>
                <a:t>Updated memory </a:t>
              </a:r>
              <a:r>
                <a:rPr sz="1500" b="1" i="1">
                  <a:solidFill>
                    <a:srgbClr val="10121A"/>
                  </a:solidFill>
                  <a:latin typeface="Times New Roman"/>
                </a:rPr>
                <a:t>M</a:t>
              </a:r>
              <a:r>
                <a:rPr sz="1500" b="1" i="0">
                  <a:solidFill>
                    <a:srgbClr val="10121A"/>
                  </a:solidFill>
                  <a:latin typeface="Times New Roman"/>
                </a:rPr>
                <a:t>′</a:t>
              </a:r>
            </a:p>
          </p:txBody>
        </p:sp>
        <p:sp>
          <p:nvSpPr>
            <p:cNvPr id="164" name="updated-memory-panel"/>
            <p:cNvSpPr/>
            <p:nvPr/>
          </p:nvSpPr>
          <p:spPr>
            <a:xfrm>
              <a:off x="8458200" y="2621280"/>
              <a:ext cx="1539239" cy="411480"/>
            </a:xfrm>
            <a:prstGeom prst="roundRect">
              <a:avLst>
                <a:gd name="adj" fmla="val 11111"/>
              </a:avLst>
            </a:prstGeom>
            <a:solidFill>
              <a:srgbClr val="F6F0FF"/>
            </a:solidFill>
            <a:ln w="10668">
              <a:solidFill>
                <a:srgbClr val="C1A3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updated-memory-token-0"/>
            <p:cNvSpPr/>
            <p:nvPr/>
          </p:nvSpPr>
          <p:spPr>
            <a:xfrm>
              <a:off x="8580120" y="2712720"/>
              <a:ext cx="213360" cy="213360"/>
            </a:xfrm>
            <a:prstGeom prst="rect">
              <a:avLst/>
            </a:prstGeom>
            <a:solidFill>
              <a:srgbClr val="E0D3FF"/>
            </a:solidFill>
            <a:ln w="13716">
              <a:solidFill>
                <a:srgbClr val="8B5C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updated-memory-token-1"/>
            <p:cNvSpPr/>
            <p:nvPr/>
          </p:nvSpPr>
          <p:spPr>
            <a:xfrm>
              <a:off x="8862060" y="2712720"/>
              <a:ext cx="213360" cy="213360"/>
            </a:xfrm>
            <a:prstGeom prst="rect">
              <a:avLst/>
            </a:prstGeom>
            <a:solidFill>
              <a:srgbClr val="E0D3FF"/>
            </a:solidFill>
            <a:ln w="13716">
              <a:solidFill>
                <a:srgbClr val="8B5C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updated-memory-token-2"/>
            <p:cNvSpPr/>
            <p:nvPr/>
          </p:nvSpPr>
          <p:spPr>
            <a:xfrm>
              <a:off x="9144000" y="2712720"/>
              <a:ext cx="213360" cy="213360"/>
            </a:xfrm>
            <a:prstGeom prst="rect">
              <a:avLst/>
            </a:prstGeom>
            <a:solidFill>
              <a:srgbClr val="E0D3FF"/>
            </a:solidFill>
            <a:ln w="13716">
              <a:solidFill>
                <a:srgbClr val="8B5C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updated-memory-token-3"/>
            <p:cNvSpPr/>
            <p:nvPr/>
          </p:nvSpPr>
          <p:spPr>
            <a:xfrm>
              <a:off x="9425940" y="2712720"/>
              <a:ext cx="213360" cy="21336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updated-memory-ellipsis-0"/>
            <p:cNvSpPr/>
            <p:nvPr/>
          </p:nvSpPr>
          <p:spPr>
            <a:xfrm>
              <a:off x="9715500" y="2796540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updated-memory-ellipsis-1"/>
            <p:cNvSpPr/>
            <p:nvPr/>
          </p:nvSpPr>
          <p:spPr>
            <a:xfrm>
              <a:off x="9784080" y="2796540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updated-memory-ellipsis-2"/>
            <p:cNvSpPr/>
            <p:nvPr/>
          </p:nvSpPr>
          <p:spPr>
            <a:xfrm>
              <a:off x="9852660" y="2796540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write-panel"/>
            <p:cNvSpPr/>
            <p:nvPr/>
          </p:nvSpPr>
          <p:spPr>
            <a:xfrm>
              <a:off x="7246620" y="3566160"/>
              <a:ext cx="2674620" cy="716280"/>
            </a:xfrm>
            <a:prstGeom prst="roundRect">
              <a:avLst>
                <a:gd name="adj" fmla="val 13829"/>
              </a:avLst>
            </a:prstGeom>
            <a:solidFill>
              <a:srgbClr val="F1EAFE"/>
            </a:solidFill>
            <a:ln w="12192">
              <a:solidFill>
                <a:srgbClr val="8B5C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write-title"/>
            <p:cNvSpPr txBox="1"/>
            <p:nvPr/>
          </p:nvSpPr>
          <p:spPr>
            <a:xfrm>
              <a:off x="7528559" y="3665219"/>
              <a:ext cx="211074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59" b="1" i="0">
                  <a:solidFill>
                    <a:srgbClr val="10121A"/>
                  </a:solidFill>
                  <a:latin typeface="Times New Roman"/>
                </a:rPr>
                <a:t>CCM Write</a:t>
              </a:r>
            </a:p>
          </p:txBody>
        </p:sp>
        <p:sp>
          <p:nvSpPr>
            <p:cNvPr id="174" name="write-equation"/>
            <p:cNvSpPr txBox="1"/>
            <p:nvPr/>
          </p:nvSpPr>
          <p:spPr>
            <a:xfrm>
              <a:off x="7345680" y="3962400"/>
              <a:ext cx="2484120" cy="2438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0" i="1">
                  <a:solidFill>
                    <a:srgbClr val="10121A"/>
                  </a:solidFill>
                  <a:latin typeface="Times New Roman"/>
                </a:rPr>
                <a:t>U</a:t>
              </a:r>
              <a:r>
                <a:rPr sz="1439" b="0" i="0">
                  <a:solidFill>
                    <a:srgbClr val="10121A"/>
                  </a:solidFill>
                  <a:latin typeface="Times New Roman"/>
                </a:rPr>
                <a:t> = </a:t>
              </a:r>
              <a:r>
                <a:rPr sz="1439" b="0" i="1">
                  <a:solidFill>
                    <a:srgbClr val="10121A"/>
                  </a:solidFill>
                  <a:latin typeface="Times New Roman"/>
                </a:rPr>
                <a:t>X̃</a:t>
              </a:r>
              <a:r>
                <a:rPr sz="1439" b="0" i="0">
                  <a:solidFill>
                    <a:srgbClr val="10121A"/>
                  </a:solidFill>
                  <a:latin typeface="Times New Roman"/>
                </a:rPr>
                <a:t> + Attn</a:t>
              </a:r>
              <a:r>
                <a:rPr sz="1036" b="0" i="0" baseline="-25000">
                  <a:solidFill>
                    <a:srgbClr val="10121A"/>
                  </a:solidFill>
                  <a:latin typeface="Times New Roman"/>
                </a:rPr>
                <a:t>w</a:t>
              </a:r>
              <a:r>
                <a:rPr sz="1439" b="0" i="0">
                  <a:solidFill>
                    <a:srgbClr val="10121A"/>
                  </a:solidFill>
                  <a:latin typeface="Times New Roman"/>
                </a:rPr>
                <a:t>(LN(</a:t>
              </a:r>
              <a:r>
                <a:rPr sz="1439" b="0" i="1">
                  <a:solidFill>
                    <a:srgbClr val="10121A"/>
                  </a:solidFill>
                  <a:latin typeface="Times New Roman"/>
                </a:rPr>
                <a:t>X̃</a:t>
              </a:r>
              <a:r>
                <a:rPr sz="1439" b="0" i="0">
                  <a:solidFill>
                    <a:srgbClr val="10121A"/>
                  </a:solidFill>
                  <a:latin typeface="Times New Roman"/>
                </a:rPr>
                <a:t>), </a:t>
              </a:r>
              <a:r>
                <a:rPr sz="1439" b="0" i="1">
                  <a:solidFill>
                    <a:srgbClr val="10121A"/>
                  </a:solidFill>
                  <a:latin typeface="Times New Roman"/>
                </a:rPr>
                <a:t>M</a:t>
              </a:r>
              <a:r>
                <a:rPr sz="1439" b="0" i="0">
                  <a:solidFill>
                    <a:srgbClr val="10121A"/>
                  </a:solidFill>
                  <a:latin typeface="Times New Roman"/>
                </a:rPr>
                <a:t>′, </a:t>
              </a:r>
              <a:r>
                <a:rPr sz="1439" b="0" i="1">
                  <a:solidFill>
                    <a:srgbClr val="10121A"/>
                  </a:solidFill>
                  <a:latin typeface="Times New Roman"/>
                </a:rPr>
                <a:t>M</a:t>
              </a:r>
              <a:r>
                <a:rPr sz="1439" b="0" i="0">
                  <a:solidFill>
                    <a:srgbClr val="10121A"/>
                  </a:solidFill>
                  <a:latin typeface="Times New Roman"/>
                </a:rPr>
                <a:t>′)</a:t>
              </a:r>
            </a:p>
          </p:txBody>
        </p:sp>
        <p:sp>
          <p:nvSpPr>
            <p:cNvPr id="175" name="memory-q-label"/>
            <p:cNvSpPr txBox="1"/>
            <p:nvPr/>
          </p:nvSpPr>
          <p:spPr>
            <a:xfrm>
              <a:off x="6964680" y="2171700"/>
              <a:ext cx="266700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 b="0" i="1">
                  <a:solidFill>
                    <a:srgbClr val="10121A"/>
                  </a:solidFill>
                  <a:latin typeface="Times New Roman"/>
                </a:rPr>
                <a:t>Q</a:t>
              </a:r>
            </a:p>
          </p:txBody>
        </p:sp>
        <p:sp>
          <p:nvSpPr>
            <p:cNvPr id="176" name="read-kv-label"/>
            <p:cNvSpPr txBox="1"/>
            <p:nvPr/>
          </p:nvSpPr>
          <p:spPr>
            <a:xfrm>
              <a:off x="4899660" y="2560320"/>
              <a:ext cx="609600" cy="2362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20" b="0" i="1">
                  <a:solidFill>
                    <a:srgbClr val="10121A"/>
                  </a:solidFill>
                  <a:latin typeface="Times New Roman"/>
                </a:rPr>
                <a:t>K, V</a:t>
              </a:r>
            </a:p>
          </p:txBody>
        </p:sp>
        <p:sp>
          <p:nvSpPr>
            <p:cNvPr id="177" name="write-q-label"/>
            <p:cNvSpPr txBox="1"/>
            <p:nvPr/>
          </p:nvSpPr>
          <p:spPr>
            <a:xfrm>
              <a:off x="6019800" y="3672840"/>
              <a:ext cx="266700" cy="2362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 b="0" i="1">
                  <a:solidFill>
                    <a:srgbClr val="10121A"/>
                  </a:solidFill>
                  <a:latin typeface="Times New Roman"/>
                </a:rPr>
                <a:t>Q</a:t>
              </a:r>
            </a:p>
          </p:txBody>
        </p:sp>
        <p:sp>
          <p:nvSpPr>
            <p:cNvPr id="178" name="write-kv-label"/>
            <p:cNvSpPr txBox="1"/>
            <p:nvPr/>
          </p:nvSpPr>
          <p:spPr>
            <a:xfrm>
              <a:off x="9052560" y="3208020"/>
              <a:ext cx="609600" cy="2362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20" b="0" i="1">
                  <a:solidFill>
                    <a:srgbClr val="10121A"/>
                  </a:solidFill>
                  <a:latin typeface="Times New Roman"/>
                </a:rPr>
                <a:t>K, V</a:t>
              </a:r>
            </a:p>
          </p:txBody>
        </p:sp>
      </p:grpSp>
      <p:grpSp>
        <p:nvGrpSpPr>
          <p:cNvPr id="246" name="region-current-latents"/>
          <p:cNvGrpSpPr/>
          <p:nvPr/>
        </p:nvGrpSpPr>
        <p:grpSpPr>
          <a:xfrm>
            <a:off x="190500" y="4701540"/>
            <a:ext cx="2773680" cy="2537460"/>
            <a:chOff x="190500" y="4701540"/>
            <a:chExt cx="2773680" cy="2537460"/>
          </a:xfrm>
        </p:grpSpPr>
        <p:sp>
          <p:nvSpPr>
            <p:cNvPr id="180" name="current-panel"/>
            <p:cNvSpPr/>
            <p:nvPr/>
          </p:nvSpPr>
          <p:spPr>
            <a:xfrm>
              <a:off x="190500" y="4701540"/>
              <a:ext cx="2773680" cy="2537460"/>
            </a:xfrm>
            <a:prstGeom prst="roundRect">
              <a:avLst>
                <a:gd name="adj" fmla="val 3603"/>
              </a:avLst>
            </a:prstGeom>
            <a:solidFill>
              <a:srgbClr val="F3FBFF"/>
            </a:solidFill>
            <a:ln w="11429">
              <a:solidFill>
                <a:srgbClr val="8CC8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current-title"/>
            <p:cNvSpPr txBox="1"/>
            <p:nvPr/>
          </p:nvSpPr>
          <p:spPr>
            <a:xfrm>
              <a:off x="297180" y="4762500"/>
              <a:ext cx="25527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59" b="1" i="0">
                  <a:solidFill>
                    <a:srgbClr val="10121A"/>
                  </a:solidFill>
                  <a:latin typeface="Times New Roman"/>
                </a:rPr>
                <a:t>Current latents </a:t>
              </a:r>
              <a:r>
                <a:rPr sz="1859" b="1" i="1">
                  <a:solidFill>
                    <a:srgbClr val="10121A"/>
                  </a:solidFill>
                  <a:latin typeface="Times New Roman"/>
                </a:rPr>
                <a:t>z</a:t>
              </a:r>
              <a:r>
                <a:rPr sz="1339" b="1" i="0" baseline="35000">
                  <a:solidFill>
                    <a:srgbClr val="10121A"/>
                  </a:solidFill>
                  <a:latin typeface="Times New Roman"/>
                </a:rPr>
                <a:t>j</a:t>
              </a:r>
            </a:p>
          </p:txBody>
        </p:sp>
        <p:sp>
          <p:nvSpPr>
            <p:cNvPr id="182" name="current-background-label"/>
            <p:cNvSpPr txBox="1"/>
            <p:nvPr/>
          </p:nvSpPr>
          <p:spPr>
            <a:xfrm>
              <a:off x="289560" y="5158740"/>
              <a:ext cx="929640" cy="419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Background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(regions)</a:t>
              </a:r>
            </a:p>
          </p:txBody>
        </p:sp>
        <p:sp>
          <p:nvSpPr>
            <p:cNvPr id="183" name="current-background-frame"/>
            <p:cNvSpPr/>
            <p:nvPr/>
          </p:nvSpPr>
          <p:spPr>
            <a:xfrm>
              <a:off x="1257300" y="5105400"/>
              <a:ext cx="1623060" cy="419100"/>
            </a:xfrm>
            <a:prstGeom prst="roundRect">
              <a:avLst>
                <a:gd name="adj" fmla="val 14545"/>
              </a:avLst>
            </a:prstGeom>
            <a:solidFill>
              <a:srgbClr val="F3FBFF"/>
            </a:solidFill>
            <a:ln w="6858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current-background-token-0"/>
            <p:cNvSpPr/>
            <p:nvPr/>
          </p:nvSpPr>
          <p:spPr>
            <a:xfrm>
              <a:off x="1333500" y="5181600"/>
              <a:ext cx="266700" cy="266700"/>
            </a:xfrm>
            <a:prstGeom prst="rect">
              <a:avLst/>
            </a:prstGeom>
            <a:solidFill>
              <a:srgbClr val="CBEAF9"/>
            </a:solidFill>
            <a:ln w="13716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current-background-token-0-observation"/>
            <p:cNvSpPr/>
            <p:nvPr/>
          </p:nvSpPr>
          <p:spPr>
            <a:xfrm>
              <a:off x="1363980" y="5212080"/>
              <a:ext cx="93345" cy="93345"/>
            </a:xfrm>
            <a:prstGeom prst="ellipse">
              <a:avLst/>
            </a:prstGeom>
            <a:solidFill>
              <a:srgbClr val="003B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current-background-token-1"/>
            <p:cNvSpPr/>
            <p:nvPr/>
          </p:nvSpPr>
          <p:spPr>
            <a:xfrm>
              <a:off x="1744980" y="5181600"/>
              <a:ext cx="266700" cy="266700"/>
            </a:xfrm>
            <a:prstGeom prst="rect">
              <a:avLst/>
            </a:prstGeom>
            <a:solidFill>
              <a:srgbClr val="CBEAF9"/>
            </a:solidFill>
            <a:ln w="13716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87" name="current-background-token-1-hatch-a"/>
            <p:cNvCxnSpPr/>
            <p:nvPr/>
          </p:nvCxnSpPr>
          <p:spPr>
            <a:xfrm>
              <a:off x="1752600" y="5189220"/>
              <a:ext cx="22859" cy="22860"/>
            </a:xfrm>
            <a:custGeom>
              <a:avLst/>
              <a:gdLst/>
              <a:ahLst/>
              <a:cxnLst/>
              <a:rect l="0" t="0" r="r" b="b"/>
              <a:pathLst>
                <a:path w="3000" h="3000" fill="none" stroke="1">
                  <a:moveTo>
                    <a:pt x="0" y="3000"/>
                  </a:moveTo>
                  <a:lnTo>
                    <a:pt x="3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urrent-background-token-1-hatch-b"/>
            <p:cNvCxnSpPr/>
            <p:nvPr/>
          </p:nvCxnSpPr>
          <p:spPr>
            <a:xfrm>
              <a:off x="1752600" y="5189220"/>
              <a:ext cx="60959" cy="60960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urrent-background-token-1-hatch-c"/>
            <p:cNvCxnSpPr/>
            <p:nvPr/>
          </p:nvCxnSpPr>
          <p:spPr>
            <a:xfrm>
              <a:off x="1752600" y="5189220"/>
              <a:ext cx="99059" cy="99060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urrent-background-token-1-hatch-d"/>
            <p:cNvCxnSpPr/>
            <p:nvPr/>
          </p:nvCxnSpPr>
          <p:spPr>
            <a:xfrm>
              <a:off x="1752600" y="5189220"/>
              <a:ext cx="137159" cy="137160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urrent-background-token-1-hatch-e"/>
            <p:cNvCxnSpPr/>
            <p:nvPr/>
          </p:nvCxnSpPr>
          <p:spPr>
            <a:xfrm>
              <a:off x="1752600" y="5189220"/>
              <a:ext cx="175259" cy="175260"/>
            </a:xfrm>
            <a:custGeom>
              <a:avLst/>
              <a:gdLst/>
              <a:ahLst/>
              <a:cxnLst/>
              <a:rect l="0" t="0" r="r" b="b"/>
              <a:pathLst>
                <a:path w="23000" h="23000" fill="none" stroke="1">
                  <a:moveTo>
                    <a:pt x="0" y="23000"/>
                  </a:moveTo>
                  <a:lnTo>
                    <a:pt x="23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urrent-background-token-1-hatch-f"/>
            <p:cNvCxnSpPr/>
            <p:nvPr/>
          </p:nvCxnSpPr>
          <p:spPr>
            <a:xfrm>
              <a:off x="1752600" y="5189220"/>
              <a:ext cx="213359" cy="213360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 stroke="1">
                  <a:moveTo>
                    <a:pt x="0" y="28000"/>
                  </a:moveTo>
                  <a:lnTo>
                    <a:pt x="28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urrent-background-token-1-hatch-g"/>
            <p:cNvCxnSpPr/>
            <p:nvPr/>
          </p:nvCxnSpPr>
          <p:spPr>
            <a:xfrm>
              <a:off x="1752600" y="5189220"/>
              <a:ext cx="251459" cy="251460"/>
            </a:xfrm>
            <a:custGeom>
              <a:avLst/>
              <a:gdLst/>
              <a:ahLst/>
              <a:cxnLst/>
              <a:rect l="0" t="0" r="r" b="b"/>
              <a:pathLst>
                <a:path w="33000" h="33000" fill="none" stroke="1">
                  <a:moveTo>
                    <a:pt x="0" y="33000"/>
                  </a:moveTo>
                  <a:lnTo>
                    <a:pt x="33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urrent-background-token-1-hatch-h"/>
            <p:cNvCxnSpPr/>
            <p:nvPr/>
          </p:nvCxnSpPr>
          <p:spPr>
            <a:xfrm>
              <a:off x="1790700" y="5227320"/>
              <a:ext cx="213359" cy="213360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 stroke="1">
                  <a:moveTo>
                    <a:pt x="0" y="28000"/>
                  </a:moveTo>
                  <a:lnTo>
                    <a:pt x="28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rent-background-token-1-hatch-i"/>
            <p:cNvCxnSpPr/>
            <p:nvPr/>
          </p:nvCxnSpPr>
          <p:spPr>
            <a:xfrm>
              <a:off x="1828800" y="5265420"/>
              <a:ext cx="175259" cy="175260"/>
            </a:xfrm>
            <a:custGeom>
              <a:avLst/>
              <a:gdLst/>
              <a:ahLst/>
              <a:cxnLst/>
              <a:rect l="0" t="0" r="r" b="b"/>
              <a:pathLst>
                <a:path w="23000" h="23000" fill="none" stroke="1">
                  <a:moveTo>
                    <a:pt x="0" y="23000"/>
                  </a:moveTo>
                  <a:lnTo>
                    <a:pt x="23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rent-background-token-1-hatch-j"/>
            <p:cNvCxnSpPr/>
            <p:nvPr/>
          </p:nvCxnSpPr>
          <p:spPr>
            <a:xfrm>
              <a:off x="1866900" y="5303520"/>
              <a:ext cx="137159" cy="137160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urrent-background-token-1-hatch-k"/>
            <p:cNvCxnSpPr/>
            <p:nvPr/>
          </p:nvCxnSpPr>
          <p:spPr>
            <a:xfrm>
              <a:off x="1905000" y="5341620"/>
              <a:ext cx="99059" cy="99060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urrent-background-token-1-hatch-l"/>
            <p:cNvCxnSpPr/>
            <p:nvPr/>
          </p:nvCxnSpPr>
          <p:spPr>
            <a:xfrm>
              <a:off x="1943100" y="5379720"/>
              <a:ext cx="60959" cy="60960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current-background-token-2"/>
            <p:cNvSpPr/>
            <p:nvPr/>
          </p:nvSpPr>
          <p:spPr>
            <a:xfrm>
              <a:off x="2156460" y="5181600"/>
              <a:ext cx="266700" cy="26670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current-background-ellipsis-0"/>
            <p:cNvSpPr/>
            <p:nvPr/>
          </p:nvSpPr>
          <p:spPr>
            <a:xfrm>
              <a:off x="2575560" y="529971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current-background-ellipsis-1"/>
            <p:cNvSpPr/>
            <p:nvPr/>
          </p:nvSpPr>
          <p:spPr>
            <a:xfrm>
              <a:off x="2659380" y="529971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current-background-ellipsis-2"/>
            <p:cNvSpPr/>
            <p:nvPr/>
          </p:nvSpPr>
          <p:spPr>
            <a:xfrm>
              <a:off x="2743200" y="529971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current-rigid-label"/>
            <p:cNvSpPr txBox="1"/>
            <p:nvPr/>
          </p:nvSpPr>
          <p:spPr>
            <a:xfrm>
              <a:off x="289560" y="5722620"/>
              <a:ext cx="929640" cy="419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Rigid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(assets)</a:t>
              </a:r>
            </a:p>
          </p:txBody>
        </p:sp>
        <p:sp>
          <p:nvSpPr>
            <p:cNvPr id="204" name="current-rigid-frame"/>
            <p:cNvSpPr/>
            <p:nvPr/>
          </p:nvSpPr>
          <p:spPr>
            <a:xfrm>
              <a:off x="1257300" y="5669280"/>
              <a:ext cx="1623060" cy="419100"/>
            </a:xfrm>
            <a:prstGeom prst="roundRect">
              <a:avLst>
                <a:gd name="adj" fmla="val 14545"/>
              </a:avLst>
            </a:prstGeom>
            <a:solidFill>
              <a:srgbClr val="FFF9EC"/>
            </a:solidFill>
            <a:ln w="6858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current-rigid-token-0"/>
            <p:cNvSpPr/>
            <p:nvPr/>
          </p:nvSpPr>
          <p:spPr>
            <a:xfrm>
              <a:off x="1333500" y="5745480"/>
              <a:ext cx="266700" cy="266700"/>
            </a:xfrm>
            <a:prstGeom prst="rect">
              <a:avLst/>
            </a:prstGeom>
            <a:solidFill>
              <a:srgbClr val="FFE8BF"/>
            </a:solidFill>
            <a:ln w="13716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current-rigid-token-0-observation"/>
            <p:cNvSpPr/>
            <p:nvPr/>
          </p:nvSpPr>
          <p:spPr>
            <a:xfrm>
              <a:off x="1363980" y="5775960"/>
              <a:ext cx="93345" cy="93345"/>
            </a:xfrm>
            <a:prstGeom prst="ellipse">
              <a:avLst/>
            </a:prstGeom>
            <a:solidFill>
              <a:srgbClr val="A53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current-rigid-token-1"/>
            <p:cNvSpPr/>
            <p:nvPr/>
          </p:nvSpPr>
          <p:spPr>
            <a:xfrm>
              <a:off x="1744980" y="5745480"/>
              <a:ext cx="266700" cy="266700"/>
            </a:xfrm>
            <a:prstGeom prst="rect">
              <a:avLst/>
            </a:prstGeom>
            <a:solidFill>
              <a:srgbClr val="FFE8BF"/>
            </a:solidFill>
            <a:ln w="13716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8" name="current-rigid-token-1-hatch-a"/>
            <p:cNvCxnSpPr/>
            <p:nvPr/>
          </p:nvCxnSpPr>
          <p:spPr>
            <a:xfrm>
              <a:off x="1752600" y="5753100"/>
              <a:ext cx="22859" cy="22860"/>
            </a:xfrm>
            <a:custGeom>
              <a:avLst/>
              <a:gdLst/>
              <a:ahLst/>
              <a:cxnLst/>
              <a:rect l="0" t="0" r="r" b="b"/>
              <a:pathLst>
                <a:path w="3000" h="3000" fill="none" stroke="1">
                  <a:moveTo>
                    <a:pt x="0" y="3000"/>
                  </a:moveTo>
                  <a:lnTo>
                    <a:pt x="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urrent-rigid-token-1-hatch-b"/>
            <p:cNvCxnSpPr/>
            <p:nvPr/>
          </p:nvCxnSpPr>
          <p:spPr>
            <a:xfrm>
              <a:off x="1752600" y="5753100"/>
              <a:ext cx="60959" cy="60960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urrent-rigid-token-1-hatch-c"/>
            <p:cNvCxnSpPr/>
            <p:nvPr/>
          </p:nvCxnSpPr>
          <p:spPr>
            <a:xfrm>
              <a:off x="1752600" y="5753100"/>
              <a:ext cx="99059" cy="99059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urrent-rigid-token-1-hatch-d"/>
            <p:cNvCxnSpPr/>
            <p:nvPr/>
          </p:nvCxnSpPr>
          <p:spPr>
            <a:xfrm>
              <a:off x="1752600" y="5753100"/>
              <a:ext cx="137159" cy="137159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urrent-rigid-token-1-hatch-e"/>
            <p:cNvCxnSpPr/>
            <p:nvPr/>
          </p:nvCxnSpPr>
          <p:spPr>
            <a:xfrm>
              <a:off x="1752600" y="5753100"/>
              <a:ext cx="175259" cy="175259"/>
            </a:xfrm>
            <a:custGeom>
              <a:avLst/>
              <a:gdLst/>
              <a:ahLst/>
              <a:cxnLst/>
              <a:rect l="0" t="0" r="r" b="b"/>
              <a:pathLst>
                <a:path w="23000" h="23000" fill="none" stroke="1">
                  <a:moveTo>
                    <a:pt x="0" y="23000"/>
                  </a:moveTo>
                  <a:lnTo>
                    <a:pt x="2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rent-rigid-token-1-hatch-f"/>
            <p:cNvCxnSpPr/>
            <p:nvPr/>
          </p:nvCxnSpPr>
          <p:spPr>
            <a:xfrm>
              <a:off x="1752600" y="5753100"/>
              <a:ext cx="213359" cy="213359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 stroke="1">
                  <a:moveTo>
                    <a:pt x="0" y="28000"/>
                  </a:moveTo>
                  <a:lnTo>
                    <a:pt x="2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rent-rigid-token-1-hatch-g"/>
            <p:cNvCxnSpPr/>
            <p:nvPr/>
          </p:nvCxnSpPr>
          <p:spPr>
            <a:xfrm>
              <a:off x="1752600" y="5753100"/>
              <a:ext cx="251459" cy="251459"/>
            </a:xfrm>
            <a:custGeom>
              <a:avLst/>
              <a:gdLst/>
              <a:ahLst/>
              <a:cxnLst/>
              <a:rect l="0" t="0" r="r" b="b"/>
              <a:pathLst>
                <a:path w="33000" h="33000" fill="none" stroke="1">
                  <a:moveTo>
                    <a:pt x="0" y="33000"/>
                  </a:moveTo>
                  <a:lnTo>
                    <a:pt x="3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urrent-rigid-token-1-hatch-h"/>
            <p:cNvCxnSpPr/>
            <p:nvPr/>
          </p:nvCxnSpPr>
          <p:spPr>
            <a:xfrm>
              <a:off x="1790700" y="5791200"/>
              <a:ext cx="213359" cy="213359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 stroke="1">
                  <a:moveTo>
                    <a:pt x="0" y="28000"/>
                  </a:moveTo>
                  <a:lnTo>
                    <a:pt x="2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urrent-rigid-token-1-hatch-i"/>
            <p:cNvCxnSpPr/>
            <p:nvPr/>
          </p:nvCxnSpPr>
          <p:spPr>
            <a:xfrm>
              <a:off x="1828800" y="5829300"/>
              <a:ext cx="175259" cy="175259"/>
            </a:xfrm>
            <a:custGeom>
              <a:avLst/>
              <a:gdLst/>
              <a:ahLst/>
              <a:cxnLst/>
              <a:rect l="0" t="0" r="r" b="b"/>
              <a:pathLst>
                <a:path w="23000" h="23000" fill="none" stroke="1">
                  <a:moveTo>
                    <a:pt x="0" y="23000"/>
                  </a:moveTo>
                  <a:lnTo>
                    <a:pt x="2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urrent-rigid-token-1-hatch-j"/>
            <p:cNvCxnSpPr/>
            <p:nvPr/>
          </p:nvCxnSpPr>
          <p:spPr>
            <a:xfrm>
              <a:off x="1866900" y="5867400"/>
              <a:ext cx="137159" cy="137159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urrent-rigid-token-1-hatch-k"/>
            <p:cNvCxnSpPr/>
            <p:nvPr/>
          </p:nvCxnSpPr>
          <p:spPr>
            <a:xfrm>
              <a:off x="1905000" y="5905500"/>
              <a:ext cx="99059" cy="99059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urrent-rigid-token-1-hatch-l"/>
            <p:cNvCxnSpPr/>
            <p:nvPr/>
          </p:nvCxnSpPr>
          <p:spPr>
            <a:xfrm>
              <a:off x="1943100" y="5943600"/>
              <a:ext cx="60959" cy="60959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current-rigid-token-2"/>
            <p:cNvSpPr/>
            <p:nvPr/>
          </p:nvSpPr>
          <p:spPr>
            <a:xfrm>
              <a:off x="2156460" y="5745480"/>
              <a:ext cx="266700" cy="26670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current-rigid-ellipsis-0"/>
            <p:cNvSpPr/>
            <p:nvPr/>
          </p:nvSpPr>
          <p:spPr>
            <a:xfrm>
              <a:off x="2575560" y="586359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current-rigid-ellipsis-1"/>
            <p:cNvSpPr/>
            <p:nvPr/>
          </p:nvSpPr>
          <p:spPr>
            <a:xfrm>
              <a:off x="2659380" y="586359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current-rigid-ellipsis-2"/>
            <p:cNvSpPr/>
            <p:nvPr/>
          </p:nvSpPr>
          <p:spPr>
            <a:xfrm>
              <a:off x="2743200" y="586359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current-human-label"/>
            <p:cNvSpPr txBox="1"/>
            <p:nvPr/>
          </p:nvSpPr>
          <p:spPr>
            <a:xfrm>
              <a:off x="289560" y="6286500"/>
              <a:ext cx="929640" cy="419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Human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(assets)</a:t>
              </a:r>
            </a:p>
          </p:txBody>
        </p:sp>
        <p:sp>
          <p:nvSpPr>
            <p:cNvPr id="225" name="current-human-frame"/>
            <p:cNvSpPr/>
            <p:nvPr/>
          </p:nvSpPr>
          <p:spPr>
            <a:xfrm>
              <a:off x="1257300" y="6233159"/>
              <a:ext cx="1623060" cy="419100"/>
            </a:xfrm>
            <a:prstGeom prst="roundRect">
              <a:avLst>
                <a:gd name="adj" fmla="val 14545"/>
              </a:avLst>
            </a:prstGeom>
            <a:solidFill>
              <a:srgbClr val="F1FDF9"/>
            </a:solidFill>
            <a:ln w="6858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current-human-token-0"/>
            <p:cNvSpPr/>
            <p:nvPr/>
          </p:nvSpPr>
          <p:spPr>
            <a:xfrm>
              <a:off x="1333500" y="6309359"/>
              <a:ext cx="266700" cy="266700"/>
            </a:xfrm>
            <a:prstGeom prst="rect">
              <a:avLst/>
            </a:prstGeom>
            <a:solidFill>
              <a:srgbClr val="C9F0DF"/>
            </a:solidFill>
            <a:ln w="13716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current-human-token-0-observation"/>
            <p:cNvSpPr/>
            <p:nvPr/>
          </p:nvSpPr>
          <p:spPr>
            <a:xfrm>
              <a:off x="1363980" y="6339840"/>
              <a:ext cx="93345" cy="93345"/>
            </a:xfrm>
            <a:prstGeom prst="ellipse">
              <a:avLst/>
            </a:prstGeom>
            <a:solidFill>
              <a:srgbClr val="0083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current-human-token-1"/>
            <p:cNvSpPr/>
            <p:nvPr/>
          </p:nvSpPr>
          <p:spPr>
            <a:xfrm>
              <a:off x="1744980" y="6309359"/>
              <a:ext cx="266700" cy="266700"/>
            </a:xfrm>
            <a:prstGeom prst="rect">
              <a:avLst/>
            </a:prstGeom>
            <a:solidFill>
              <a:srgbClr val="C9F0DF"/>
            </a:solidFill>
            <a:ln w="13716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9" name="current-human-token-1-hatch-a"/>
            <p:cNvCxnSpPr/>
            <p:nvPr/>
          </p:nvCxnSpPr>
          <p:spPr>
            <a:xfrm>
              <a:off x="1752600" y="6316980"/>
              <a:ext cx="22859" cy="22860"/>
            </a:xfrm>
            <a:custGeom>
              <a:avLst/>
              <a:gdLst/>
              <a:ahLst/>
              <a:cxnLst/>
              <a:rect l="0" t="0" r="r" b="b"/>
              <a:pathLst>
                <a:path w="3000" h="3000" fill="none" stroke="1">
                  <a:moveTo>
                    <a:pt x="0" y="3000"/>
                  </a:moveTo>
                  <a:lnTo>
                    <a:pt x="3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urrent-human-token-1-hatch-b"/>
            <p:cNvCxnSpPr/>
            <p:nvPr/>
          </p:nvCxnSpPr>
          <p:spPr>
            <a:xfrm>
              <a:off x="1752600" y="6316980"/>
              <a:ext cx="60959" cy="60960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urrent-human-token-1-hatch-c"/>
            <p:cNvCxnSpPr/>
            <p:nvPr/>
          </p:nvCxnSpPr>
          <p:spPr>
            <a:xfrm>
              <a:off x="1752600" y="6316980"/>
              <a:ext cx="99059" cy="99060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urrent-human-token-1-hatch-d"/>
            <p:cNvCxnSpPr/>
            <p:nvPr/>
          </p:nvCxnSpPr>
          <p:spPr>
            <a:xfrm>
              <a:off x="1752600" y="6316980"/>
              <a:ext cx="137159" cy="137160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urrent-human-token-1-hatch-e"/>
            <p:cNvCxnSpPr/>
            <p:nvPr/>
          </p:nvCxnSpPr>
          <p:spPr>
            <a:xfrm>
              <a:off x="1752600" y="6316980"/>
              <a:ext cx="175259" cy="175260"/>
            </a:xfrm>
            <a:custGeom>
              <a:avLst/>
              <a:gdLst/>
              <a:ahLst/>
              <a:cxnLst/>
              <a:rect l="0" t="0" r="r" b="b"/>
              <a:pathLst>
                <a:path w="23000" h="23000" fill="none" stroke="1">
                  <a:moveTo>
                    <a:pt x="0" y="23000"/>
                  </a:moveTo>
                  <a:lnTo>
                    <a:pt x="23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urrent-human-token-1-hatch-f"/>
            <p:cNvCxnSpPr/>
            <p:nvPr/>
          </p:nvCxnSpPr>
          <p:spPr>
            <a:xfrm>
              <a:off x="1752600" y="6316980"/>
              <a:ext cx="213359" cy="213359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 stroke="1">
                  <a:moveTo>
                    <a:pt x="0" y="28000"/>
                  </a:moveTo>
                  <a:lnTo>
                    <a:pt x="28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urrent-human-token-1-hatch-g"/>
            <p:cNvCxnSpPr/>
            <p:nvPr/>
          </p:nvCxnSpPr>
          <p:spPr>
            <a:xfrm>
              <a:off x="1752600" y="6316980"/>
              <a:ext cx="251459" cy="251459"/>
            </a:xfrm>
            <a:custGeom>
              <a:avLst/>
              <a:gdLst/>
              <a:ahLst/>
              <a:cxnLst/>
              <a:rect l="0" t="0" r="r" b="b"/>
              <a:pathLst>
                <a:path w="33000" h="33000" fill="none" stroke="1">
                  <a:moveTo>
                    <a:pt x="0" y="33000"/>
                  </a:moveTo>
                  <a:lnTo>
                    <a:pt x="33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urrent-human-token-1-hatch-h"/>
            <p:cNvCxnSpPr/>
            <p:nvPr/>
          </p:nvCxnSpPr>
          <p:spPr>
            <a:xfrm>
              <a:off x="1790700" y="6355080"/>
              <a:ext cx="213359" cy="213359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 stroke="1">
                  <a:moveTo>
                    <a:pt x="0" y="28000"/>
                  </a:moveTo>
                  <a:lnTo>
                    <a:pt x="28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urrent-human-token-1-hatch-i"/>
            <p:cNvCxnSpPr/>
            <p:nvPr/>
          </p:nvCxnSpPr>
          <p:spPr>
            <a:xfrm>
              <a:off x="1828800" y="6393180"/>
              <a:ext cx="175259" cy="175259"/>
            </a:xfrm>
            <a:custGeom>
              <a:avLst/>
              <a:gdLst/>
              <a:ahLst/>
              <a:cxnLst/>
              <a:rect l="0" t="0" r="r" b="b"/>
              <a:pathLst>
                <a:path w="23000" h="23000" fill="none" stroke="1">
                  <a:moveTo>
                    <a:pt x="0" y="23000"/>
                  </a:moveTo>
                  <a:lnTo>
                    <a:pt x="23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urrent-human-token-1-hatch-j"/>
            <p:cNvCxnSpPr/>
            <p:nvPr/>
          </p:nvCxnSpPr>
          <p:spPr>
            <a:xfrm>
              <a:off x="1866900" y="6431280"/>
              <a:ext cx="137159" cy="137159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urrent-human-token-1-hatch-k"/>
            <p:cNvCxnSpPr/>
            <p:nvPr/>
          </p:nvCxnSpPr>
          <p:spPr>
            <a:xfrm>
              <a:off x="1905000" y="6469380"/>
              <a:ext cx="99059" cy="99059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urrent-human-token-1-hatch-l"/>
            <p:cNvCxnSpPr/>
            <p:nvPr/>
          </p:nvCxnSpPr>
          <p:spPr>
            <a:xfrm>
              <a:off x="1943100" y="6507480"/>
              <a:ext cx="60959" cy="60959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1" name="current-human-token-2"/>
            <p:cNvSpPr/>
            <p:nvPr/>
          </p:nvSpPr>
          <p:spPr>
            <a:xfrm>
              <a:off x="2156460" y="6309359"/>
              <a:ext cx="266700" cy="26670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current-human-ellipsis-0"/>
            <p:cNvSpPr/>
            <p:nvPr/>
          </p:nvSpPr>
          <p:spPr>
            <a:xfrm>
              <a:off x="2575560" y="642747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current-human-ellipsis-1"/>
            <p:cNvSpPr/>
            <p:nvPr/>
          </p:nvSpPr>
          <p:spPr>
            <a:xfrm>
              <a:off x="2659380" y="642747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current-human-ellipsis-2"/>
            <p:cNvSpPr/>
            <p:nvPr/>
          </p:nvSpPr>
          <p:spPr>
            <a:xfrm>
              <a:off x="2743200" y="642747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current-layout-note"/>
            <p:cNvSpPr txBox="1"/>
            <p:nvPr/>
          </p:nvSpPr>
          <p:spPr>
            <a:xfrm>
              <a:off x="274320" y="6758939"/>
              <a:ext cx="2606040" cy="3733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10121A"/>
                  </a:solidFill>
                  <a:latin typeface="Times New Roman"/>
                </a:rPr>
                <a:t>Fixed query layout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10121A"/>
                  </a:solidFill>
                  <a:latin typeface="Times New Roman"/>
                </a:rPr>
                <a:t>(canonical &amp; reference-world coordinates)</a:t>
              </a:r>
            </a:p>
          </p:txBody>
        </p:sp>
      </p:grpSp>
      <p:grpSp>
        <p:nvGrpSpPr>
          <p:cNvPr id="289" name="region-updated-tokens"/>
          <p:cNvGrpSpPr/>
          <p:nvPr/>
        </p:nvGrpSpPr>
        <p:grpSpPr>
          <a:xfrm>
            <a:off x="7406639" y="4503420"/>
            <a:ext cx="2697481" cy="2583179"/>
            <a:chOff x="7406639" y="4503420"/>
            <a:chExt cx="2697481" cy="2583179"/>
          </a:xfrm>
        </p:grpSpPr>
        <p:sp>
          <p:nvSpPr>
            <p:cNvPr id="247" name="updated-panel"/>
            <p:cNvSpPr/>
            <p:nvPr/>
          </p:nvSpPr>
          <p:spPr>
            <a:xfrm>
              <a:off x="7406639" y="4503420"/>
              <a:ext cx="2476500" cy="1569720"/>
            </a:xfrm>
            <a:prstGeom prst="roundRect">
              <a:avLst>
                <a:gd name="adj" fmla="val 5339"/>
              </a:avLst>
            </a:prstGeom>
            <a:solidFill>
              <a:srgbClr val="F3FBFF"/>
            </a:solidFill>
            <a:ln w="10668">
              <a:solidFill>
                <a:srgbClr val="8CC8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8" name="updated-title"/>
            <p:cNvSpPr txBox="1"/>
            <p:nvPr/>
          </p:nvSpPr>
          <p:spPr>
            <a:xfrm>
              <a:off x="7589520" y="4572000"/>
              <a:ext cx="2164080" cy="2895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10121A"/>
                  </a:solidFill>
                  <a:latin typeface="Times New Roman"/>
                </a:rPr>
                <a:t>Updated tokens </a:t>
              </a:r>
              <a:r>
                <a:rPr sz="1800" b="1" i="1">
                  <a:solidFill>
                    <a:srgbClr val="10121A"/>
                  </a:solidFill>
                  <a:latin typeface="Times New Roman"/>
                </a:rPr>
                <a:t>U</a:t>
              </a:r>
            </a:p>
          </p:txBody>
        </p:sp>
        <p:sp>
          <p:nvSpPr>
            <p:cNvPr id="249" name="updated-background-token-0"/>
            <p:cNvSpPr/>
            <p:nvPr/>
          </p:nvSpPr>
          <p:spPr>
            <a:xfrm>
              <a:off x="7711439" y="4922520"/>
              <a:ext cx="266700" cy="266700"/>
            </a:xfrm>
            <a:prstGeom prst="rect">
              <a:avLst/>
            </a:prstGeom>
            <a:solidFill>
              <a:srgbClr val="CBEAF9"/>
            </a:solidFill>
            <a:ln w="13716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updated-background-token-0-observation"/>
            <p:cNvSpPr/>
            <p:nvPr/>
          </p:nvSpPr>
          <p:spPr>
            <a:xfrm>
              <a:off x="7741920" y="4953000"/>
              <a:ext cx="93345" cy="93345"/>
            </a:xfrm>
            <a:prstGeom prst="ellipse">
              <a:avLst/>
            </a:prstGeom>
            <a:solidFill>
              <a:srgbClr val="003B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updated-background-token-1"/>
            <p:cNvSpPr/>
            <p:nvPr/>
          </p:nvSpPr>
          <p:spPr>
            <a:xfrm>
              <a:off x="8122920" y="4922520"/>
              <a:ext cx="266700" cy="266700"/>
            </a:xfrm>
            <a:prstGeom prst="rect">
              <a:avLst/>
            </a:prstGeom>
            <a:solidFill>
              <a:srgbClr val="CBEAF9"/>
            </a:solidFill>
            <a:ln w="13716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updated-background-token-2"/>
            <p:cNvSpPr/>
            <p:nvPr/>
          </p:nvSpPr>
          <p:spPr>
            <a:xfrm>
              <a:off x="8534400" y="4922520"/>
              <a:ext cx="266700" cy="266700"/>
            </a:xfrm>
            <a:prstGeom prst="rect">
              <a:avLst/>
            </a:prstGeom>
            <a:solidFill>
              <a:srgbClr val="CBEAF9"/>
            </a:solidFill>
            <a:ln w="13716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updated-background-token-3"/>
            <p:cNvSpPr/>
            <p:nvPr/>
          </p:nvSpPr>
          <p:spPr>
            <a:xfrm>
              <a:off x="8945880" y="4922520"/>
              <a:ext cx="266700" cy="26670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updated-background-ellipsis-0"/>
            <p:cNvSpPr/>
            <p:nvPr/>
          </p:nvSpPr>
          <p:spPr>
            <a:xfrm>
              <a:off x="9364980" y="504063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updated-background-ellipsis-1"/>
            <p:cNvSpPr/>
            <p:nvPr/>
          </p:nvSpPr>
          <p:spPr>
            <a:xfrm>
              <a:off x="9448800" y="504063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updated-background-ellipsis-2"/>
            <p:cNvSpPr/>
            <p:nvPr/>
          </p:nvSpPr>
          <p:spPr>
            <a:xfrm>
              <a:off x="9532620" y="504063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updated-rigid-token-0"/>
            <p:cNvSpPr/>
            <p:nvPr/>
          </p:nvSpPr>
          <p:spPr>
            <a:xfrm>
              <a:off x="7711439" y="5303520"/>
              <a:ext cx="266700" cy="266700"/>
            </a:xfrm>
            <a:prstGeom prst="rect">
              <a:avLst/>
            </a:prstGeom>
            <a:solidFill>
              <a:srgbClr val="FFE8BF"/>
            </a:solidFill>
            <a:ln w="13716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updated-rigid-token-0-observation"/>
            <p:cNvSpPr/>
            <p:nvPr/>
          </p:nvSpPr>
          <p:spPr>
            <a:xfrm>
              <a:off x="7741920" y="5334000"/>
              <a:ext cx="93345" cy="93345"/>
            </a:xfrm>
            <a:prstGeom prst="ellipse">
              <a:avLst/>
            </a:prstGeom>
            <a:solidFill>
              <a:srgbClr val="A53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updated-rigid-token-1"/>
            <p:cNvSpPr/>
            <p:nvPr/>
          </p:nvSpPr>
          <p:spPr>
            <a:xfrm>
              <a:off x="8122920" y="5303520"/>
              <a:ext cx="266700" cy="266700"/>
            </a:xfrm>
            <a:prstGeom prst="rect">
              <a:avLst/>
            </a:prstGeom>
            <a:solidFill>
              <a:srgbClr val="FFE8BF"/>
            </a:solidFill>
            <a:ln w="13716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updated-rigid-token-2"/>
            <p:cNvSpPr/>
            <p:nvPr/>
          </p:nvSpPr>
          <p:spPr>
            <a:xfrm>
              <a:off x="8534400" y="5303520"/>
              <a:ext cx="266700" cy="266700"/>
            </a:xfrm>
            <a:prstGeom prst="rect">
              <a:avLst/>
            </a:prstGeom>
            <a:solidFill>
              <a:srgbClr val="FFE8BF"/>
            </a:solidFill>
            <a:ln w="13716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1" name="updated-rigid-token-2-hatch-a"/>
            <p:cNvCxnSpPr/>
            <p:nvPr/>
          </p:nvCxnSpPr>
          <p:spPr>
            <a:xfrm>
              <a:off x="8542020" y="5311140"/>
              <a:ext cx="22860" cy="22860"/>
            </a:xfrm>
            <a:custGeom>
              <a:avLst/>
              <a:gdLst/>
              <a:ahLst/>
              <a:cxnLst/>
              <a:rect l="0" t="0" r="r" b="b"/>
              <a:pathLst>
                <a:path w="3000" h="3000" fill="none" stroke="1">
                  <a:moveTo>
                    <a:pt x="0" y="3000"/>
                  </a:moveTo>
                  <a:lnTo>
                    <a:pt x="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updated-rigid-token-2-hatch-b"/>
            <p:cNvCxnSpPr/>
            <p:nvPr/>
          </p:nvCxnSpPr>
          <p:spPr>
            <a:xfrm>
              <a:off x="8542020" y="5311140"/>
              <a:ext cx="60960" cy="60960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updated-rigid-token-2-hatch-c"/>
            <p:cNvCxnSpPr/>
            <p:nvPr/>
          </p:nvCxnSpPr>
          <p:spPr>
            <a:xfrm>
              <a:off x="8542020" y="5311140"/>
              <a:ext cx="99060" cy="99060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updated-rigid-token-2-hatch-d"/>
            <p:cNvCxnSpPr/>
            <p:nvPr/>
          </p:nvCxnSpPr>
          <p:spPr>
            <a:xfrm>
              <a:off x="8542020" y="5311140"/>
              <a:ext cx="137160" cy="137160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updated-rigid-token-2-hatch-e"/>
            <p:cNvCxnSpPr/>
            <p:nvPr/>
          </p:nvCxnSpPr>
          <p:spPr>
            <a:xfrm>
              <a:off x="8542020" y="5311140"/>
              <a:ext cx="175260" cy="175260"/>
            </a:xfrm>
            <a:custGeom>
              <a:avLst/>
              <a:gdLst/>
              <a:ahLst/>
              <a:cxnLst/>
              <a:rect l="0" t="0" r="r" b="b"/>
              <a:pathLst>
                <a:path w="23000" h="23000" fill="none" stroke="1">
                  <a:moveTo>
                    <a:pt x="0" y="23000"/>
                  </a:moveTo>
                  <a:lnTo>
                    <a:pt x="2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updated-rigid-token-2-hatch-f"/>
            <p:cNvCxnSpPr/>
            <p:nvPr/>
          </p:nvCxnSpPr>
          <p:spPr>
            <a:xfrm>
              <a:off x="8542020" y="5311140"/>
              <a:ext cx="213360" cy="213360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 stroke="1">
                  <a:moveTo>
                    <a:pt x="0" y="28000"/>
                  </a:moveTo>
                  <a:lnTo>
                    <a:pt x="2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updated-rigid-token-2-hatch-g"/>
            <p:cNvCxnSpPr/>
            <p:nvPr/>
          </p:nvCxnSpPr>
          <p:spPr>
            <a:xfrm>
              <a:off x="8542020" y="5311140"/>
              <a:ext cx="251460" cy="251460"/>
            </a:xfrm>
            <a:custGeom>
              <a:avLst/>
              <a:gdLst/>
              <a:ahLst/>
              <a:cxnLst/>
              <a:rect l="0" t="0" r="r" b="b"/>
              <a:pathLst>
                <a:path w="33000" h="33000" fill="none" stroke="1">
                  <a:moveTo>
                    <a:pt x="0" y="33000"/>
                  </a:moveTo>
                  <a:lnTo>
                    <a:pt x="3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updated-rigid-token-2-hatch-h"/>
            <p:cNvCxnSpPr/>
            <p:nvPr/>
          </p:nvCxnSpPr>
          <p:spPr>
            <a:xfrm>
              <a:off x="8580120" y="5349240"/>
              <a:ext cx="213360" cy="213360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 stroke="1">
                  <a:moveTo>
                    <a:pt x="0" y="28000"/>
                  </a:moveTo>
                  <a:lnTo>
                    <a:pt x="2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updated-rigid-token-2-hatch-i"/>
            <p:cNvCxnSpPr/>
            <p:nvPr/>
          </p:nvCxnSpPr>
          <p:spPr>
            <a:xfrm>
              <a:off x="8618220" y="5387340"/>
              <a:ext cx="175260" cy="175260"/>
            </a:xfrm>
            <a:custGeom>
              <a:avLst/>
              <a:gdLst/>
              <a:ahLst/>
              <a:cxnLst/>
              <a:rect l="0" t="0" r="r" b="b"/>
              <a:pathLst>
                <a:path w="23000" h="23000" fill="none" stroke="1">
                  <a:moveTo>
                    <a:pt x="0" y="23000"/>
                  </a:moveTo>
                  <a:lnTo>
                    <a:pt x="2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updated-rigid-token-2-hatch-j"/>
            <p:cNvCxnSpPr/>
            <p:nvPr/>
          </p:nvCxnSpPr>
          <p:spPr>
            <a:xfrm>
              <a:off x="8656320" y="5425440"/>
              <a:ext cx="137160" cy="137160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updated-rigid-token-2-hatch-k"/>
            <p:cNvCxnSpPr/>
            <p:nvPr/>
          </p:nvCxnSpPr>
          <p:spPr>
            <a:xfrm>
              <a:off x="8694420" y="5463540"/>
              <a:ext cx="99060" cy="99060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updated-rigid-token-2-hatch-l"/>
            <p:cNvCxnSpPr/>
            <p:nvPr/>
          </p:nvCxnSpPr>
          <p:spPr>
            <a:xfrm>
              <a:off x="8732520" y="5501640"/>
              <a:ext cx="60960" cy="60960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updated-rigid-token-3"/>
            <p:cNvSpPr/>
            <p:nvPr/>
          </p:nvSpPr>
          <p:spPr>
            <a:xfrm>
              <a:off x="8945880" y="5303520"/>
              <a:ext cx="266700" cy="26670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updated-rigid-ellipsis-0"/>
            <p:cNvSpPr/>
            <p:nvPr/>
          </p:nvSpPr>
          <p:spPr>
            <a:xfrm>
              <a:off x="9364980" y="542163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updated-rigid-ellipsis-1"/>
            <p:cNvSpPr/>
            <p:nvPr/>
          </p:nvSpPr>
          <p:spPr>
            <a:xfrm>
              <a:off x="9448800" y="542163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updated-rigid-ellipsis-2"/>
            <p:cNvSpPr/>
            <p:nvPr/>
          </p:nvSpPr>
          <p:spPr>
            <a:xfrm>
              <a:off x="9532620" y="542163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updated-human-token-0"/>
            <p:cNvSpPr/>
            <p:nvPr/>
          </p:nvSpPr>
          <p:spPr>
            <a:xfrm>
              <a:off x="7711439" y="5684520"/>
              <a:ext cx="266700" cy="266700"/>
            </a:xfrm>
            <a:prstGeom prst="rect">
              <a:avLst/>
            </a:prstGeom>
            <a:solidFill>
              <a:srgbClr val="C9F0DF"/>
            </a:solidFill>
            <a:ln w="13716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updated-human-token-0-observation"/>
            <p:cNvSpPr/>
            <p:nvPr/>
          </p:nvSpPr>
          <p:spPr>
            <a:xfrm>
              <a:off x="7741920" y="5715000"/>
              <a:ext cx="93345" cy="93345"/>
            </a:xfrm>
            <a:prstGeom prst="ellipse">
              <a:avLst/>
            </a:prstGeom>
            <a:solidFill>
              <a:srgbClr val="0083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updated-human-token-1"/>
            <p:cNvSpPr/>
            <p:nvPr/>
          </p:nvSpPr>
          <p:spPr>
            <a:xfrm>
              <a:off x="8122920" y="5684520"/>
              <a:ext cx="266700" cy="266700"/>
            </a:xfrm>
            <a:prstGeom prst="rect">
              <a:avLst/>
            </a:prstGeom>
            <a:solidFill>
              <a:srgbClr val="C9F0DF"/>
            </a:solidFill>
            <a:ln w="13716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updated-human-token-2"/>
            <p:cNvSpPr/>
            <p:nvPr/>
          </p:nvSpPr>
          <p:spPr>
            <a:xfrm>
              <a:off x="8534400" y="5684520"/>
              <a:ext cx="266700" cy="266700"/>
            </a:xfrm>
            <a:prstGeom prst="rect">
              <a:avLst/>
            </a:prstGeom>
            <a:solidFill>
              <a:srgbClr val="C9F0DF"/>
            </a:solidFill>
            <a:ln w="13716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1" name="updated-human-token-3"/>
            <p:cNvSpPr/>
            <p:nvPr/>
          </p:nvSpPr>
          <p:spPr>
            <a:xfrm>
              <a:off x="8945880" y="5684520"/>
              <a:ext cx="266700" cy="26670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updated-human-ellipsis-0"/>
            <p:cNvSpPr/>
            <p:nvPr/>
          </p:nvSpPr>
          <p:spPr>
            <a:xfrm>
              <a:off x="9364980" y="580263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updated-human-ellipsis-1"/>
            <p:cNvSpPr/>
            <p:nvPr/>
          </p:nvSpPr>
          <p:spPr>
            <a:xfrm>
              <a:off x="9448800" y="580263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updated-human-ellipsis-2"/>
            <p:cNvSpPr/>
            <p:nvPr/>
          </p:nvSpPr>
          <p:spPr>
            <a:xfrm>
              <a:off x="9532620" y="5802630"/>
              <a:ext cx="34290" cy="3429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velocity-panel"/>
            <p:cNvSpPr/>
            <p:nvPr/>
          </p:nvSpPr>
          <p:spPr>
            <a:xfrm>
              <a:off x="7612380" y="6271259"/>
              <a:ext cx="2026920" cy="434339"/>
            </a:xfrm>
            <a:prstGeom prst="roundRect">
              <a:avLst>
                <a:gd name="adj" fmla="val 21052"/>
              </a:avLst>
            </a:prstGeom>
            <a:solidFill>
              <a:srgbClr val="FFF0CC"/>
            </a:solidFill>
            <a:ln w="12192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velocity-title"/>
            <p:cNvSpPr txBox="1"/>
            <p:nvPr/>
          </p:nvSpPr>
          <p:spPr>
            <a:xfrm>
              <a:off x="7696200" y="6339840"/>
              <a:ext cx="1859280" cy="2971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59" b="1" i="0">
                  <a:solidFill>
                    <a:srgbClr val="10121A"/>
                  </a:solidFill>
                  <a:latin typeface="Times New Roman"/>
                </a:rPr>
                <a:t>Velocity head</a:t>
              </a:r>
            </a:p>
          </p:txBody>
        </p:sp>
        <p:sp>
          <p:nvSpPr>
            <p:cNvPr id="287" name="velocity-symbol"/>
            <p:cNvSpPr txBox="1"/>
            <p:nvPr/>
          </p:nvSpPr>
          <p:spPr>
            <a:xfrm>
              <a:off x="9685020" y="6347459"/>
              <a:ext cx="419100" cy="3276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00" b="1" i="1">
                  <a:solidFill>
                    <a:srgbClr val="10121A"/>
                  </a:solidFill>
                  <a:latin typeface="Times New Roman"/>
                </a:rPr>
                <a:t>v</a:t>
              </a:r>
              <a:r>
                <a:rPr sz="1512" b="1" i="0" baseline="-25000">
                  <a:solidFill>
                    <a:srgbClr val="10121A"/>
                  </a:solidFill>
                  <a:latin typeface="Times New Roman"/>
                </a:rPr>
                <a:t>θ</a:t>
              </a:r>
            </a:p>
          </p:txBody>
        </p:sp>
        <p:sp>
          <p:nvSpPr>
            <p:cNvPr id="288" name="unknown-velocity-label"/>
            <p:cNvSpPr txBox="1"/>
            <p:nvPr/>
          </p:nvSpPr>
          <p:spPr>
            <a:xfrm>
              <a:off x="7924800" y="6850380"/>
              <a:ext cx="2118360" cy="2362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i="1">
                  <a:solidFill>
                    <a:srgbClr val="10121A"/>
                  </a:solidFill>
                  <a:latin typeface="Times New Roman"/>
                </a:rPr>
                <a:t>u</a:t>
              </a: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 · </a:t>
              </a:r>
              <a:r>
                <a:rPr sz="1500" b="0" i="1">
                  <a:solidFill>
                    <a:srgbClr val="10121A"/>
                  </a:solidFill>
                  <a:latin typeface="Times New Roman"/>
                </a:rPr>
                <a:t>v</a:t>
              </a:r>
              <a:r>
                <a:rPr sz="1080" b="0" i="0" baseline="-25000">
                  <a:solidFill>
                    <a:srgbClr val="10121A"/>
                  </a:solidFill>
                  <a:latin typeface="Times New Roman"/>
                </a:rPr>
                <a:t>θ</a:t>
              </a: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 (unknown only)</a:t>
              </a:r>
            </a:p>
          </p:txBody>
        </p:sp>
      </p:grpSp>
      <p:grpSp>
        <p:nvGrpSpPr>
          <p:cNvPr id="346" name="region-completed-latents"/>
          <p:cNvGrpSpPr/>
          <p:nvPr/>
        </p:nvGrpSpPr>
        <p:grpSpPr>
          <a:xfrm>
            <a:off x="3787140" y="4351020"/>
            <a:ext cx="3429000" cy="2514600"/>
            <a:chOff x="3787140" y="4351020"/>
            <a:chExt cx="3429000" cy="2514600"/>
          </a:xfrm>
        </p:grpSpPr>
        <p:sp>
          <p:nvSpPr>
            <p:cNvPr id="290" name="completed-panel"/>
            <p:cNvSpPr/>
            <p:nvPr/>
          </p:nvSpPr>
          <p:spPr>
            <a:xfrm>
              <a:off x="3787140" y="4351020"/>
              <a:ext cx="2529840" cy="2004059"/>
            </a:xfrm>
            <a:prstGeom prst="roundRect">
              <a:avLst>
                <a:gd name="adj" fmla="val 5703"/>
              </a:avLst>
            </a:prstGeom>
            <a:solidFill>
              <a:srgbClr val="FCFDFF"/>
            </a:solidFill>
            <a:ln w="15240">
              <a:solidFill>
                <a:srgbClr val="7E97B5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completed-title"/>
            <p:cNvSpPr txBox="1"/>
            <p:nvPr/>
          </p:nvSpPr>
          <p:spPr>
            <a:xfrm>
              <a:off x="4015740" y="4404360"/>
              <a:ext cx="2087880" cy="2895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20" b="1" i="0">
                  <a:solidFill>
                    <a:srgbClr val="10121A"/>
                  </a:solidFill>
                  <a:latin typeface="Times New Roman"/>
                </a:rPr>
                <a:t>Completed latents</a:t>
              </a:r>
            </a:p>
          </p:txBody>
        </p:sp>
        <p:sp>
          <p:nvSpPr>
            <p:cNvPr id="292" name="completed-subtitle"/>
            <p:cNvSpPr txBox="1"/>
            <p:nvPr/>
          </p:nvSpPr>
          <p:spPr>
            <a:xfrm>
              <a:off x="4091940" y="4678680"/>
              <a:ext cx="1935480" cy="2438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60" b="0" i="0">
                  <a:solidFill>
                    <a:srgbClr val="10121A"/>
                  </a:solidFill>
                  <a:latin typeface="Times New Roman"/>
                </a:rPr>
                <a:t>(after </a:t>
              </a:r>
              <a:r>
                <a:rPr sz="1560" b="0" i="1">
                  <a:solidFill>
                    <a:srgbClr val="10121A"/>
                  </a:solidFill>
                  <a:latin typeface="Times New Roman"/>
                </a:rPr>
                <a:t>S</a:t>
              </a:r>
              <a:r>
                <a:rPr sz="1560" b="0" i="0">
                  <a:solidFill>
                    <a:srgbClr val="10121A"/>
                  </a:solidFill>
                  <a:latin typeface="Times New Roman"/>
                </a:rPr>
                <a:t> steps)</a:t>
              </a:r>
            </a:p>
          </p:txBody>
        </p:sp>
        <p:sp>
          <p:nvSpPr>
            <p:cNvPr id="293" name="completed-free-column"/>
            <p:cNvSpPr/>
            <p:nvPr/>
          </p:nvSpPr>
          <p:spPr>
            <a:xfrm>
              <a:off x="5425440" y="4922520"/>
              <a:ext cx="662940" cy="1303020"/>
            </a:xfrm>
            <a:prstGeom prst="roundRect">
              <a:avLst>
                <a:gd name="adj" fmla="val 8045"/>
              </a:avLst>
            </a:prstGeom>
            <a:solidFill>
              <a:srgbClr val="FFFFFF"/>
            </a:solidFill>
            <a:ln w="7620">
              <a:solidFill>
                <a:srgbClr val="A0CB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completed-background-frame"/>
            <p:cNvSpPr/>
            <p:nvPr/>
          </p:nvSpPr>
          <p:spPr>
            <a:xfrm>
              <a:off x="4030979" y="4914900"/>
              <a:ext cx="1363980" cy="419100"/>
            </a:xfrm>
            <a:prstGeom prst="roundRect">
              <a:avLst>
                <a:gd name="adj" fmla="val 14545"/>
              </a:avLst>
            </a:prstGeom>
            <a:solidFill>
              <a:srgbClr val="F3FBFF"/>
            </a:solidFill>
            <a:ln w="6858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completed-background-token-0"/>
            <p:cNvSpPr/>
            <p:nvPr/>
          </p:nvSpPr>
          <p:spPr>
            <a:xfrm>
              <a:off x="4107179" y="4991100"/>
              <a:ext cx="266700" cy="266700"/>
            </a:xfrm>
            <a:prstGeom prst="rect">
              <a:avLst/>
            </a:prstGeom>
            <a:solidFill>
              <a:srgbClr val="CBEAF9"/>
            </a:solidFill>
            <a:ln w="13716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completed-background-token-0-observation"/>
            <p:cNvSpPr/>
            <p:nvPr/>
          </p:nvSpPr>
          <p:spPr>
            <a:xfrm>
              <a:off x="4137660" y="5021580"/>
              <a:ext cx="93345" cy="93345"/>
            </a:xfrm>
            <a:prstGeom prst="ellipse">
              <a:avLst/>
            </a:prstGeom>
            <a:solidFill>
              <a:srgbClr val="003B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completed-background-token-1"/>
            <p:cNvSpPr/>
            <p:nvPr/>
          </p:nvSpPr>
          <p:spPr>
            <a:xfrm>
              <a:off x="4533900" y="4991100"/>
              <a:ext cx="266700" cy="266700"/>
            </a:xfrm>
            <a:prstGeom prst="rect">
              <a:avLst/>
            </a:prstGeom>
            <a:solidFill>
              <a:srgbClr val="CBEAF9"/>
            </a:solidFill>
            <a:ln w="13716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completed-background-token-2"/>
            <p:cNvSpPr/>
            <p:nvPr/>
          </p:nvSpPr>
          <p:spPr>
            <a:xfrm>
              <a:off x="4960620" y="4991100"/>
              <a:ext cx="266700" cy="266700"/>
            </a:xfrm>
            <a:prstGeom prst="rect">
              <a:avLst/>
            </a:prstGeom>
            <a:solidFill>
              <a:srgbClr val="CBEAF9"/>
            </a:solidFill>
            <a:ln w="13716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completed-background-free"/>
            <p:cNvSpPr/>
            <p:nvPr/>
          </p:nvSpPr>
          <p:spPr>
            <a:xfrm>
              <a:off x="5494020" y="4991100"/>
              <a:ext cx="266700" cy="26670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completed-background-ellipsis-0"/>
            <p:cNvSpPr/>
            <p:nvPr/>
          </p:nvSpPr>
          <p:spPr>
            <a:xfrm>
              <a:off x="5814060" y="5105400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completed-background-ellipsis-1"/>
            <p:cNvSpPr/>
            <p:nvPr/>
          </p:nvSpPr>
          <p:spPr>
            <a:xfrm>
              <a:off x="5890259" y="5105400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completed-background-ellipsis-2"/>
            <p:cNvSpPr/>
            <p:nvPr/>
          </p:nvSpPr>
          <p:spPr>
            <a:xfrm>
              <a:off x="5966459" y="5105400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completed-rigid-frame"/>
            <p:cNvSpPr/>
            <p:nvPr/>
          </p:nvSpPr>
          <p:spPr>
            <a:xfrm>
              <a:off x="4030979" y="5372100"/>
              <a:ext cx="1363980" cy="419100"/>
            </a:xfrm>
            <a:prstGeom prst="roundRect">
              <a:avLst>
                <a:gd name="adj" fmla="val 14545"/>
              </a:avLst>
            </a:prstGeom>
            <a:solidFill>
              <a:srgbClr val="FFF9EC"/>
            </a:solidFill>
            <a:ln w="6858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completed-rigid-token-0"/>
            <p:cNvSpPr/>
            <p:nvPr/>
          </p:nvSpPr>
          <p:spPr>
            <a:xfrm>
              <a:off x="4107179" y="5448300"/>
              <a:ext cx="266700" cy="266700"/>
            </a:xfrm>
            <a:prstGeom prst="rect">
              <a:avLst/>
            </a:prstGeom>
            <a:solidFill>
              <a:srgbClr val="FFE8BF"/>
            </a:solidFill>
            <a:ln w="13716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completed-rigid-token-0-observation"/>
            <p:cNvSpPr/>
            <p:nvPr/>
          </p:nvSpPr>
          <p:spPr>
            <a:xfrm>
              <a:off x="4137660" y="5478780"/>
              <a:ext cx="93345" cy="93345"/>
            </a:xfrm>
            <a:prstGeom prst="ellipse">
              <a:avLst/>
            </a:prstGeom>
            <a:solidFill>
              <a:srgbClr val="A53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completed-rigid-token-1"/>
            <p:cNvSpPr/>
            <p:nvPr/>
          </p:nvSpPr>
          <p:spPr>
            <a:xfrm>
              <a:off x="4533900" y="5448300"/>
              <a:ext cx="266700" cy="266700"/>
            </a:xfrm>
            <a:prstGeom prst="rect">
              <a:avLst/>
            </a:prstGeom>
            <a:solidFill>
              <a:srgbClr val="FFE8BF"/>
            </a:solidFill>
            <a:ln w="13716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completed-rigid-token-2"/>
            <p:cNvSpPr/>
            <p:nvPr/>
          </p:nvSpPr>
          <p:spPr>
            <a:xfrm>
              <a:off x="4960620" y="5448300"/>
              <a:ext cx="266700" cy="266700"/>
            </a:xfrm>
            <a:prstGeom prst="rect">
              <a:avLst/>
            </a:prstGeom>
            <a:solidFill>
              <a:srgbClr val="FFE8BF"/>
            </a:solidFill>
            <a:ln w="13716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08" name="completed-rigid-token-2-hatch-a"/>
            <p:cNvCxnSpPr/>
            <p:nvPr/>
          </p:nvCxnSpPr>
          <p:spPr>
            <a:xfrm>
              <a:off x="4968240" y="5455920"/>
              <a:ext cx="22860" cy="22860"/>
            </a:xfrm>
            <a:custGeom>
              <a:avLst/>
              <a:gdLst/>
              <a:ahLst/>
              <a:cxnLst/>
              <a:rect l="0" t="0" r="r" b="b"/>
              <a:pathLst>
                <a:path w="3000" h="3000" fill="none" stroke="1">
                  <a:moveTo>
                    <a:pt x="0" y="3000"/>
                  </a:moveTo>
                  <a:lnTo>
                    <a:pt x="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completed-rigid-token-2-hatch-b"/>
            <p:cNvCxnSpPr/>
            <p:nvPr/>
          </p:nvCxnSpPr>
          <p:spPr>
            <a:xfrm>
              <a:off x="4968240" y="5455920"/>
              <a:ext cx="60960" cy="60960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completed-rigid-token-2-hatch-c"/>
            <p:cNvCxnSpPr/>
            <p:nvPr/>
          </p:nvCxnSpPr>
          <p:spPr>
            <a:xfrm>
              <a:off x="4968240" y="5455920"/>
              <a:ext cx="99060" cy="99060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completed-rigid-token-2-hatch-d"/>
            <p:cNvCxnSpPr/>
            <p:nvPr/>
          </p:nvCxnSpPr>
          <p:spPr>
            <a:xfrm>
              <a:off x="4968240" y="5455920"/>
              <a:ext cx="137160" cy="137160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completed-rigid-token-2-hatch-e"/>
            <p:cNvCxnSpPr/>
            <p:nvPr/>
          </p:nvCxnSpPr>
          <p:spPr>
            <a:xfrm>
              <a:off x="4968240" y="5455920"/>
              <a:ext cx="175260" cy="175260"/>
            </a:xfrm>
            <a:custGeom>
              <a:avLst/>
              <a:gdLst/>
              <a:ahLst/>
              <a:cxnLst/>
              <a:rect l="0" t="0" r="r" b="b"/>
              <a:pathLst>
                <a:path w="23000" h="23000" fill="none" stroke="1">
                  <a:moveTo>
                    <a:pt x="0" y="23000"/>
                  </a:moveTo>
                  <a:lnTo>
                    <a:pt x="2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completed-rigid-token-2-hatch-f"/>
            <p:cNvCxnSpPr/>
            <p:nvPr/>
          </p:nvCxnSpPr>
          <p:spPr>
            <a:xfrm>
              <a:off x="4968240" y="5455920"/>
              <a:ext cx="213360" cy="213360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 stroke="1">
                  <a:moveTo>
                    <a:pt x="0" y="28000"/>
                  </a:moveTo>
                  <a:lnTo>
                    <a:pt x="2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completed-rigid-token-2-hatch-g"/>
            <p:cNvCxnSpPr/>
            <p:nvPr/>
          </p:nvCxnSpPr>
          <p:spPr>
            <a:xfrm>
              <a:off x="4968240" y="5455920"/>
              <a:ext cx="251460" cy="251460"/>
            </a:xfrm>
            <a:custGeom>
              <a:avLst/>
              <a:gdLst/>
              <a:ahLst/>
              <a:cxnLst/>
              <a:rect l="0" t="0" r="r" b="b"/>
              <a:pathLst>
                <a:path w="33000" h="33000" fill="none" stroke="1">
                  <a:moveTo>
                    <a:pt x="0" y="33000"/>
                  </a:moveTo>
                  <a:lnTo>
                    <a:pt x="3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completed-rigid-token-2-hatch-h"/>
            <p:cNvCxnSpPr/>
            <p:nvPr/>
          </p:nvCxnSpPr>
          <p:spPr>
            <a:xfrm>
              <a:off x="5006340" y="5494020"/>
              <a:ext cx="213360" cy="213360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 stroke="1">
                  <a:moveTo>
                    <a:pt x="0" y="28000"/>
                  </a:moveTo>
                  <a:lnTo>
                    <a:pt x="2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completed-rigid-token-2-hatch-i"/>
            <p:cNvCxnSpPr/>
            <p:nvPr/>
          </p:nvCxnSpPr>
          <p:spPr>
            <a:xfrm>
              <a:off x="5044440" y="5532120"/>
              <a:ext cx="175260" cy="175260"/>
            </a:xfrm>
            <a:custGeom>
              <a:avLst/>
              <a:gdLst/>
              <a:ahLst/>
              <a:cxnLst/>
              <a:rect l="0" t="0" r="r" b="b"/>
              <a:pathLst>
                <a:path w="23000" h="23000" fill="none" stroke="1">
                  <a:moveTo>
                    <a:pt x="0" y="23000"/>
                  </a:moveTo>
                  <a:lnTo>
                    <a:pt x="2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completed-rigid-token-2-hatch-j"/>
            <p:cNvCxnSpPr/>
            <p:nvPr/>
          </p:nvCxnSpPr>
          <p:spPr>
            <a:xfrm>
              <a:off x="5082540" y="5570220"/>
              <a:ext cx="137160" cy="137160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completed-rigid-token-2-hatch-k"/>
            <p:cNvCxnSpPr/>
            <p:nvPr/>
          </p:nvCxnSpPr>
          <p:spPr>
            <a:xfrm>
              <a:off x="5120640" y="5608320"/>
              <a:ext cx="99060" cy="99060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mpleted-rigid-token-2-hatch-l"/>
            <p:cNvCxnSpPr/>
            <p:nvPr/>
          </p:nvCxnSpPr>
          <p:spPr>
            <a:xfrm>
              <a:off x="5158740" y="5646420"/>
              <a:ext cx="60960" cy="60960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0" name="completed-rigid-free"/>
            <p:cNvSpPr/>
            <p:nvPr/>
          </p:nvSpPr>
          <p:spPr>
            <a:xfrm>
              <a:off x="5494020" y="5448300"/>
              <a:ext cx="266700" cy="26670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completed-rigid-ellipsis-0"/>
            <p:cNvSpPr/>
            <p:nvPr/>
          </p:nvSpPr>
          <p:spPr>
            <a:xfrm>
              <a:off x="5814060" y="5562600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2" name="completed-rigid-ellipsis-1"/>
            <p:cNvSpPr/>
            <p:nvPr/>
          </p:nvSpPr>
          <p:spPr>
            <a:xfrm>
              <a:off x="5890259" y="5562600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completed-rigid-ellipsis-2"/>
            <p:cNvSpPr/>
            <p:nvPr/>
          </p:nvSpPr>
          <p:spPr>
            <a:xfrm>
              <a:off x="5966459" y="5562600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completed-human-frame"/>
            <p:cNvSpPr/>
            <p:nvPr/>
          </p:nvSpPr>
          <p:spPr>
            <a:xfrm>
              <a:off x="4030979" y="5821680"/>
              <a:ext cx="1363980" cy="419100"/>
            </a:xfrm>
            <a:prstGeom prst="roundRect">
              <a:avLst>
                <a:gd name="adj" fmla="val 14545"/>
              </a:avLst>
            </a:prstGeom>
            <a:solidFill>
              <a:srgbClr val="F1FDF9"/>
            </a:solidFill>
            <a:ln w="6858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completed-human-token-0"/>
            <p:cNvSpPr/>
            <p:nvPr/>
          </p:nvSpPr>
          <p:spPr>
            <a:xfrm>
              <a:off x="4107179" y="5897880"/>
              <a:ext cx="266700" cy="266700"/>
            </a:xfrm>
            <a:prstGeom prst="rect">
              <a:avLst/>
            </a:prstGeom>
            <a:solidFill>
              <a:srgbClr val="C9F0DF"/>
            </a:solidFill>
            <a:ln w="13716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completed-human-token-0-observation"/>
            <p:cNvSpPr/>
            <p:nvPr/>
          </p:nvSpPr>
          <p:spPr>
            <a:xfrm>
              <a:off x="4137660" y="5928359"/>
              <a:ext cx="93345" cy="93345"/>
            </a:xfrm>
            <a:prstGeom prst="ellipse">
              <a:avLst/>
            </a:prstGeom>
            <a:solidFill>
              <a:srgbClr val="0083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completed-human-token-1"/>
            <p:cNvSpPr/>
            <p:nvPr/>
          </p:nvSpPr>
          <p:spPr>
            <a:xfrm>
              <a:off x="4533900" y="5897880"/>
              <a:ext cx="266700" cy="266700"/>
            </a:xfrm>
            <a:prstGeom prst="rect">
              <a:avLst/>
            </a:prstGeom>
            <a:solidFill>
              <a:srgbClr val="C9F0DF"/>
            </a:solidFill>
            <a:ln w="13716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completed-human-token-2"/>
            <p:cNvSpPr/>
            <p:nvPr/>
          </p:nvSpPr>
          <p:spPr>
            <a:xfrm>
              <a:off x="4960620" y="5897880"/>
              <a:ext cx="266700" cy="266700"/>
            </a:xfrm>
            <a:prstGeom prst="rect">
              <a:avLst/>
            </a:prstGeom>
            <a:solidFill>
              <a:srgbClr val="C9F0DF"/>
            </a:solidFill>
            <a:ln w="13716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9" name="completed-human-token-2-hatch-a"/>
            <p:cNvCxnSpPr/>
            <p:nvPr/>
          </p:nvCxnSpPr>
          <p:spPr>
            <a:xfrm>
              <a:off x="4968240" y="5905500"/>
              <a:ext cx="22860" cy="22859"/>
            </a:xfrm>
            <a:custGeom>
              <a:avLst/>
              <a:gdLst/>
              <a:ahLst/>
              <a:cxnLst/>
              <a:rect l="0" t="0" r="r" b="b"/>
              <a:pathLst>
                <a:path w="3000" h="3000" fill="none" stroke="1">
                  <a:moveTo>
                    <a:pt x="0" y="3000"/>
                  </a:moveTo>
                  <a:lnTo>
                    <a:pt x="3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completed-human-token-2-hatch-b"/>
            <p:cNvCxnSpPr/>
            <p:nvPr/>
          </p:nvCxnSpPr>
          <p:spPr>
            <a:xfrm>
              <a:off x="4968240" y="5905500"/>
              <a:ext cx="60960" cy="60959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completed-human-token-2-hatch-c"/>
            <p:cNvCxnSpPr/>
            <p:nvPr/>
          </p:nvCxnSpPr>
          <p:spPr>
            <a:xfrm>
              <a:off x="4968240" y="5905500"/>
              <a:ext cx="99060" cy="99059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completed-human-token-2-hatch-d"/>
            <p:cNvCxnSpPr/>
            <p:nvPr/>
          </p:nvCxnSpPr>
          <p:spPr>
            <a:xfrm>
              <a:off x="4968240" y="5905500"/>
              <a:ext cx="137160" cy="137159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completed-human-token-2-hatch-e"/>
            <p:cNvCxnSpPr/>
            <p:nvPr/>
          </p:nvCxnSpPr>
          <p:spPr>
            <a:xfrm>
              <a:off x="4968240" y="5905500"/>
              <a:ext cx="175260" cy="175259"/>
            </a:xfrm>
            <a:custGeom>
              <a:avLst/>
              <a:gdLst/>
              <a:ahLst/>
              <a:cxnLst/>
              <a:rect l="0" t="0" r="r" b="b"/>
              <a:pathLst>
                <a:path w="23000" h="23000" fill="none" stroke="1">
                  <a:moveTo>
                    <a:pt x="0" y="23000"/>
                  </a:moveTo>
                  <a:lnTo>
                    <a:pt x="23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completed-human-token-2-hatch-f"/>
            <p:cNvCxnSpPr/>
            <p:nvPr/>
          </p:nvCxnSpPr>
          <p:spPr>
            <a:xfrm>
              <a:off x="4968240" y="5905500"/>
              <a:ext cx="213360" cy="213359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 stroke="1">
                  <a:moveTo>
                    <a:pt x="0" y="28000"/>
                  </a:moveTo>
                  <a:lnTo>
                    <a:pt x="28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completed-human-token-2-hatch-g"/>
            <p:cNvCxnSpPr/>
            <p:nvPr/>
          </p:nvCxnSpPr>
          <p:spPr>
            <a:xfrm>
              <a:off x="4968240" y="5905500"/>
              <a:ext cx="251460" cy="251459"/>
            </a:xfrm>
            <a:custGeom>
              <a:avLst/>
              <a:gdLst/>
              <a:ahLst/>
              <a:cxnLst/>
              <a:rect l="0" t="0" r="r" b="b"/>
              <a:pathLst>
                <a:path w="33000" h="33000" fill="none" stroke="1">
                  <a:moveTo>
                    <a:pt x="0" y="33000"/>
                  </a:moveTo>
                  <a:lnTo>
                    <a:pt x="33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completed-human-token-2-hatch-h"/>
            <p:cNvCxnSpPr/>
            <p:nvPr/>
          </p:nvCxnSpPr>
          <p:spPr>
            <a:xfrm>
              <a:off x="5006340" y="5943600"/>
              <a:ext cx="213360" cy="213359"/>
            </a:xfrm>
            <a:custGeom>
              <a:avLst/>
              <a:gdLst/>
              <a:ahLst/>
              <a:cxnLst/>
              <a:rect l="0" t="0" r="r" b="b"/>
              <a:pathLst>
                <a:path w="28000" h="28000" fill="none" stroke="1">
                  <a:moveTo>
                    <a:pt x="0" y="28000"/>
                  </a:moveTo>
                  <a:lnTo>
                    <a:pt x="28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completed-human-token-2-hatch-i"/>
            <p:cNvCxnSpPr/>
            <p:nvPr/>
          </p:nvCxnSpPr>
          <p:spPr>
            <a:xfrm>
              <a:off x="5044440" y="5981700"/>
              <a:ext cx="175260" cy="175259"/>
            </a:xfrm>
            <a:custGeom>
              <a:avLst/>
              <a:gdLst/>
              <a:ahLst/>
              <a:cxnLst/>
              <a:rect l="0" t="0" r="r" b="b"/>
              <a:pathLst>
                <a:path w="23000" h="23000" fill="none" stroke="1">
                  <a:moveTo>
                    <a:pt x="0" y="23000"/>
                  </a:moveTo>
                  <a:lnTo>
                    <a:pt x="23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completed-human-token-2-hatch-j"/>
            <p:cNvCxnSpPr/>
            <p:nvPr/>
          </p:nvCxnSpPr>
          <p:spPr>
            <a:xfrm>
              <a:off x="5082540" y="6019800"/>
              <a:ext cx="137160" cy="137159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completed-human-token-2-hatch-k"/>
            <p:cNvCxnSpPr/>
            <p:nvPr/>
          </p:nvCxnSpPr>
          <p:spPr>
            <a:xfrm>
              <a:off x="5120640" y="6057900"/>
              <a:ext cx="99060" cy="99059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completed-human-token-2-hatch-l"/>
            <p:cNvCxnSpPr/>
            <p:nvPr/>
          </p:nvCxnSpPr>
          <p:spPr>
            <a:xfrm>
              <a:off x="5158740" y="6096000"/>
              <a:ext cx="60960" cy="60959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1" name="completed-human-free"/>
            <p:cNvSpPr/>
            <p:nvPr/>
          </p:nvSpPr>
          <p:spPr>
            <a:xfrm>
              <a:off x="5494020" y="5897880"/>
              <a:ext cx="266700" cy="26670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2" name="completed-human-ellipsis-0"/>
            <p:cNvSpPr/>
            <p:nvPr/>
          </p:nvSpPr>
          <p:spPr>
            <a:xfrm>
              <a:off x="5814060" y="6012180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3" name="completed-human-ellipsis-1"/>
            <p:cNvSpPr/>
            <p:nvPr/>
          </p:nvSpPr>
          <p:spPr>
            <a:xfrm>
              <a:off x="5890259" y="6012180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4" name="completed-human-ellipsis-2"/>
            <p:cNvSpPr/>
            <p:nvPr/>
          </p:nvSpPr>
          <p:spPr>
            <a:xfrm>
              <a:off x="5966459" y="6012180"/>
              <a:ext cx="30480" cy="30480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5" name="completion-steps-label"/>
            <p:cNvSpPr txBox="1"/>
            <p:nvPr/>
          </p:nvSpPr>
          <p:spPr>
            <a:xfrm>
              <a:off x="6019800" y="6583680"/>
              <a:ext cx="1196340" cy="2819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20" b="0" i="1">
                  <a:solidFill>
                    <a:srgbClr val="10121A"/>
                  </a:solidFill>
                  <a:latin typeface="Times New Roman"/>
                </a:rPr>
                <a:t>After </a:t>
              </a:r>
              <a:r>
                <a:rPr sz="1620" b="0" i="1">
                  <a:solidFill>
                    <a:srgbClr val="10121A"/>
                  </a:solidFill>
                  <a:latin typeface="Times New Roman"/>
                </a:rPr>
                <a:t>S</a:t>
              </a:r>
              <a:r>
                <a:rPr sz="1620" b="0" i="1">
                  <a:solidFill>
                    <a:srgbClr val="10121A"/>
                  </a:solidFill>
                  <a:latin typeface="Times New Roman"/>
                </a:rPr>
                <a:t> steps</a:t>
              </a:r>
            </a:p>
          </p:txBody>
        </p:sp>
      </p:grpSp>
      <p:grpSp>
        <p:nvGrpSpPr>
          <p:cNvPr id="461" name="region-flow-projection"/>
          <p:cNvGrpSpPr/>
          <p:nvPr/>
        </p:nvGrpSpPr>
        <p:grpSpPr>
          <a:xfrm>
            <a:off x="2308860" y="7376159"/>
            <a:ext cx="7155180" cy="1432561"/>
            <a:chOff x="2308860" y="7376159"/>
            <a:chExt cx="7155180" cy="1432561"/>
          </a:xfrm>
        </p:grpSpPr>
        <p:sp>
          <p:nvSpPr>
            <p:cNvPr id="347" name="flow-panel"/>
            <p:cNvSpPr/>
            <p:nvPr/>
          </p:nvSpPr>
          <p:spPr>
            <a:xfrm>
              <a:off x="2308860" y="7376159"/>
              <a:ext cx="3558540" cy="1013460"/>
            </a:xfrm>
            <a:prstGeom prst="roundRect">
              <a:avLst>
                <a:gd name="adj" fmla="val 7518"/>
              </a:avLst>
            </a:prstGeom>
            <a:solidFill>
              <a:srgbClr val="FFF8E7"/>
            </a:solidFill>
            <a:ln w="11429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8" name="flow-title"/>
            <p:cNvSpPr txBox="1"/>
            <p:nvPr/>
          </p:nvSpPr>
          <p:spPr>
            <a:xfrm>
              <a:off x="2606040" y="7399020"/>
              <a:ext cx="2971800" cy="25907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20" b="1" i="0">
                  <a:solidFill>
                    <a:srgbClr val="10121A"/>
                  </a:solidFill>
                  <a:latin typeface="Times New Roman"/>
                </a:rPr>
                <a:t>Flow update</a:t>
              </a:r>
              <a:r>
                <a:rPr sz="1620" b="0" i="0">
                  <a:solidFill>
                    <a:srgbClr val="10121A"/>
                  </a:solidFill>
                  <a:latin typeface="Times New Roman"/>
                </a:rPr>
                <a:t> </a:t>
              </a:r>
              <a:r>
                <a:rPr sz="1377" b="0" i="0">
                  <a:solidFill>
                    <a:srgbClr val="10121A"/>
                  </a:solidFill>
                  <a:latin typeface="Times New Roman"/>
                </a:rPr>
                <a:t>(unknown only)</a:t>
              </a:r>
            </a:p>
          </p:txBody>
        </p:sp>
        <p:sp>
          <p:nvSpPr>
            <p:cNvPr id="349" name="flow-input-strip"/>
            <p:cNvSpPr/>
            <p:nvPr/>
          </p:nvSpPr>
          <p:spPr>
            <a:xfrm>
              <a:off x="2461260" y="7612380"/>
              <a:ext cx="510539" cy="716280"/>
            </a:xfrm>
            <a:prstGeom prst="roundRect">
              <a:avLst>
                <a:gd name="adj" fmla="val 5970"/>
              </a:avLst>
            </a:prstGeom>
            <a:solidFill>
              <a:srgbClr val="F8FDFF"/>
            </a:solidFill>
            <a:ln w="7620">
              <a:solidFill>
                <a:srgbClr val="8ECB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flow-output-strip"/>
            <p:cNvSpPr/>
            <p:nvPr/>
          </p:nvSpPr>
          <p:spPr>
            <a:xfrm>
              <a:off x="4572000" y="7612380"/>
              <a:ext cx="510539" cy="716280"/>
            </a:xfrm>
            <a:prstGeom prst="roundRect">
              <a:avLst>
                <a:gd name="adj" fmla="val 5970"/>
              </a:avLst>
            </a:prstGeom>
            <a:solidFill>
              <a:srgbClr val="F8FDFF"/>
            </a:solidFill>
            <a:ln w="7620">
              <a:solidFill>
                <a:srgbClr val="8ECB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1" name="flow-input-background-0"/>
            <p:cNvSpPr/>
            <p:nvPr/>
          </p:nvSpPr>
          <p:spPr>
            <a:xfrm>
              <a:off x="2514600" y="7650480"/>
              <a:ext cx="167640" cy="167640"/>
            </a:xfrm>
            <a:prstGeom prst="rect">
              <a:avLst/>
            </a:prstGeom>
            <a:solidFill>
              <a:srgbClr val="CBEAF9"/>
            </a:solidFill>
            <a:ln w="13716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2" name="flow-input-background-0-observation"/>
            <p:cNvSpPr/>
            <p:nvPr/>
          </p:nvSpPr>
          <p:spPr>
            <a:xfrm>
              <a:off x="2545080" y="7680959"/>
              <a:ext cx="58673" cy="58673"/>
            </a:xfrm>
            <a:prstGeom prst="ellipse">
              <a:avLst/>
            </a:prstGeom>
            <a:solidFill>
              <a:srgbClr val="003B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flow-input-background-1"/>
            <p:cNvSpPr/>
            <p:nvPr/>
          </p:nvSpPr>
          <p:spPr>
            <a:xfrm>
              <a:off x="2781300" y="7650480"/>
              <a:ext cx="167640" cy="167640"/>
            </a:xfrm>
            <a:prstGeom prst="rect">
              <a:avLst/>
            </a:prstGeom>
            <a:solidFill>
              <a:srgbClr val="CBEAF9"/>
            </a:solidFill>
            <a:ln w="13716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flow-input-background-free"/>
            <p:cNvSpPr/>
            <p:nvPr/>
          </p:nvSpPr>
          <p:spPr>
            <a:xfrm>
              <a:off x="3017520" y="7650480"/>
              <a:ext cx="167640" cy="16764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5" name="flow-input-background-ellipsis-0"/>
            <p:cNvSpPr/>
            <p:nvPr/>
          </p:nvSpPr>
          <p:spPr>
            <a:xfrm>
              <a:off x="3291840" y="772668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6" name="flow-input-background-ellipsis-1"/>
            <p:cNvSpPr/>
            <p:nvPr/>
          </p:nvSpPr>
          <p:spPr>
            <a:xfrm>
              <a:off x="3360419" y="772668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flow-input-background-ellipsis-2"/>
            <p:cNvSpPr/>
            <p:nvPr/>
          </p:nvSpPr>
          <p:spPr>
            <a:xfrm>
              <a:off x="3429000" y="772668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8" name="flow-output-background-0"/>
            <p:cNvSpPr/>
            <p:nvPr/>
          </p:nvSpPr>
          <p:spPr>
            <a:xfrm>
              <a:off x="4625340" y="7650480"/>
              <a:ext cx="167640" cy="167640"/>
            </a:xfrm>
            <a:prstGeom prst="rect">
              <a:avLst/>
            </a:prstGeom>
            <a:solidFill>
              <a:srgbClr val="CBEAF9"/>
            </a:solidFill>
            <a:ln w="13716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9" name="flow-output-background-0-observation"/>
            <p:cNvSpPr/>
            <p:nvPr/>
          </p:nvSpPr>
          <p:spPr>
            <a:xfrm>
              <a:off x="4655820" y="7680959"/>
              <a:ext cx="58673" cy="58673"/>
            </a:xfrm>
            <a:prstGeom prst="ellipse">
              <a:avLst/>
            </a:prstGeom>
            <a:solidFill>
              <a:srgbClr val="003B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flow-output-background-1"/>
            <p:cNvSpPr/>
            <p:nvPr/>
          </p:nvSpPr>
          <p:spPr>
            <a:xfrm>
              <a:off x="4892040" y="7650480"/>
              <a:ext cx="167640" cy="167640"/>
            </a:xfrm>
            <a:prstGeom prst="rect">
              <a:avLst/>
            </a:prstGeom>
            <a:solidFill>
              <a:srgbClr val="CBEAF9"/>
            </a:solidFill>
            <a:ln w="13716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1" name="flow-output-background-1-hatch-a"/>
            <p:cNvCxnSpPr/>
            <p:nvPr/>
          </p:nvCxnSpPr>
          <p:spPr>
            <a:xfrm>
              <a:off x="4899660" y="7658100"/>
              <a:ext cx="22860" cy="22859"/>
            </a:xfrm>
            <a:custGeom>
              <a:avLst/>
              <a:gdLst/>
              <a:ahLst/>
              <a:cxnLst/>
              <a:rect l="0" t="0" r="r" b="b"/>
              <a:pathLst>
                <a:path w="3000" h="3000" fill="none" stroke="1">
                  <a:moveTo>
                    <a:pt x="0" y="3000"/>
                  </a:moveTo>
                  <a:lnTo>
                    <a:pt x="3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flow-output-background-1-hatch-b"/>
            <p:cNvCxnSpPr/>
            <p:nvPr/>
          </p:nvCxnSpPr>
          <p:spPr>
            <a:xfrm>
              <a:off x="4899660" y="7658100"/>
              <a:ext cx="60960" cy="60959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flow-output-background-1-hatch-c"/>
            <p:cNvCxnSpPr/>
            <p:nvPr/>
          </p:nvCxnSpPr>
          <p:spPr>
            <a:xfrm>
              <a:off x="4899660" y="7658100"/>
              <a:ext cx="99060" cy="99059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flow-output-background-1-hatch-d"/>
            <p:cNvCxnSpPr/>
            <p:nvPr/>
          </p:nvCxnSpPr>
          <p:spPr>
            <a:xfrm>
              <a:off x="4899660" y="7658100"/>
              <a:ext cx="137160" cy="137159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flow-output-background-1-hatch-e"/>
            <p:cNvCxnSpPr/>
            <p:nvPr/>
          </p:nvCxnSpPr>
          <p:spPr>
            <a:xfrm>
              <a:off x="4922520" y="7680959"/>
              <a:ext cx="129540" cy="129541"/>
            </a:xfrm>
            <a:custGeom>
              <a:avLst/>
              <a:gdLst/>
              <a:ahLst/>
              <a:cxnLst/>
              <a:rect l="0" t="0" r="r" b="b"/>
              <a:pathLst>
                <a:path w="17000" h="17000" fill="none" stroke="1">
                  <a:moveTo>
                    <a:pt x="0" y="17000"/>
                  </a:moveTo>
                  <a:lnTo>
                    <a:pt x="17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flow-output-background-1-hatch-f"/>
            <p:cNvCxnSpPr/>
            <p:nvPr/>
          </p:nvCxnSpPr>
          <p:spPr>
            <a:xfrm>
              <a:off x="4960620" y="7719059"/>
              <a:ext cx="91440" cy="91441"/>
            </a:xfrm>
            <a:custGeom>
              <a:avLst/>
              <a:gdLst/>
              <a:ahLst/>
              <a:cxnLst/>
              <a:rect l="0" t="0" r="r" b="b"/>
              <a:pathLst>
                <a:path w="12000" h="12000" fill="none" stroke="1">
                  <a:moveTo>
                    <a:pt x="0" y="12000"/>
                  </a:moveTo>
                  <a:lnTo>
                    <a:pt x="12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flow-output-background-1-hatch-g"/>
            <p:cNvCxnSpPr/>
            <p:nvPr/>
          </p:nvCxnSpPr>
          <p:spPr>
            <a:xfrm>
              <a:off x="4998720" y="7757159"/>
              <a:ext cx="53340" cy="53341"/>
            </a:xfrm>
            <a:custGeom>
              <a:avLst/>
              <a:gdLst/>
              <a:ahLst/>
              <a:cxnLst/>
              <a:rect l="0" t="0" r="r" b="b"/>
              <a:pathLst>
                <a:path w="7000" h="7000" fill="none" stroke="1">
                  <a:moveTo>
                    <a:pt x="0" y="7000"/>
                  </a:moveTo>
                  <a:lnTo>
                    <a:pt x="7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flow-output-background-1-hatch-h"/>
            <p:cNvCxnSpPr/>
            <p:nvPr/>
          </p:nvCxnSpPr>
          <p:spPr>
            <a:xfrm>
              <a:off x="5036820" y="7795259"/>
              <a:ext cx="15240" cy="15241"/>
            </a:xfrm>
            <a:custGeom>
              <a:avLst/>
              <a:gdLst/>
              <a:ahLst/>
              <a:cxnLst/>
              <a:rect l="0" t="0" r="r" b="b"/>
              <a:pathLst>
                <a:path w="2000" h="2000" fill="none" stroke="1">
                  <a:moveTo>
                    <a:pt x="0" y="2000"/>
                  </a:moveTo>
                  <a:lnTo>
                    <a:pt x="2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9" name="flow-output-background-free"/>
            <p:cNvSpPr/>
            <p:nvPr/>
          </p:nvSpPr>
          <p:spPr>
            <a:xfrm>
              <a:off x="5189220" y="7650480"/>
              <a:ext cx="167640" cy="16764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0" name="flow-output-background-ellipsis-0"/>
            <p:cNvSpPr/>
            <p:nvPr/>
          </p:nvSpPr>
          <p:spPr>
            <a:xfrm>
              <a:off x="5463540" y="772668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1" name="flow-output-background-ellipsis-1"/>
            <p:cNvSpPr/>
            <p:nvPr/>
          </p:nvSpPr>
          <p:spPr>
            <a:xfrm>
              <a:off x="5532120" y="772668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2" name="flow-output-background-ellipsis-2"/>
            <p:cNvSpPr/>
            <p:nvPr/>
          </p:nvSpPr>
          <p:spPr>
            <a:xfrm>
              <a:off x="5600700" y="772668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" name="flow-input-rigid-0"/>
            <p:cNvSpPr/>
            <p:nvPr/>
          </p:nvSpPr>
          <p:spPr>
            <a:xfrm>
              <a:off x="2514600" y="7886700"/>
              <a:ext cx="167640" cy="167640"/>
            </a:xfrm>
            <a:prstGeom prst="rect">
              <a:avLst/>
            </a:prstGeom>
            <a:solidFill>
              <a:srgbClr val="FFE8BF"/>
            </a:solidFill>
            <a:ln w="13716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4" name="flow-input-rigid-0-observation"/>
            <p:cNvSpPr/>
            <p:nvPr/>
          </p:nvSpPr>
          <p:spPr>
            <a:xfrm>
              <a:off x="2545080" y="7917180"/>
              <a:ext cx="58673" cy="58673"/>
            </a:xfrm>
            <a:prstGeom prst="ellipse">
              <a:avLst/>
            </a:prstGeom>
            <a:solidFill>
              <a:srgbClr val="A53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5" name="flow-input-rigid-1"/>
            <p:cNvSpPr/>
            <p:nvPr/>
          </p:nvSpPr>
          <p:spPr>
            <a:xfrm>
              <a:off x="2781300" y="7886700"/>
              <a:ext cx="167640" cy="167640"/>
            </a:xfrm>
            <a:prstGeom prst="rect">
              <a:avLst/>
            </a:prstGeom>
            <a:solidFill>
              <a:srgbClr val="FFE8BF"/>
            </a:solidFill>
            <a:ln w="13716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" name="flow-input-rigid-free"/>
            <p:cNvSpPr/>
            <p:nvPr/>
          </p:nvSpPr>
          <p:spPr>
            <a:xfrm>
              <a:off x="3017520" y="7886700"/>
              <a:ext cx="167640" cy="16764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7" name="flow-input-rigid-ellipsis-0"/>
            <p:cNvSpPr/>
            <p:nvPr/>
          </p:nvSpPr>
          <p:spPr>
            <a:xfrm>
              <a:off x="3291840" y="796290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8" name="flow-input-rigid-ellipsis-1"/>
            <p:cNvSpPr/>
            <p:nvPr/>
          </p:nvSpPr>
          <p:spPr>
            <a:xfrm>
              <a:off x="3360419" y="796290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" name="flow-input-rigid-ellipsis-2"/>
            <p:cNvSpPr/>
            <p:nvPr/>
          </p:nvSpPr>
          <p:spPr>
            <a:xfrm>
              <a:off x="3429000" y="796290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0" name="flow-output-rigid-0"/>
            <p:cNvSpPr/>
            <p:nvPr/>
          </p:nvSpPr>
          <p:spPr>
            <a:xfrm>
              <a:off x="4625340" y="7886700"/>
              <a:ext cx="167640" cy="167640"/>
            </a:xfrm>
            <a:prstGeom prst="rect">
              <a:avLst/>
            </a:prstGeom>
            <a:solidFill>
              <a:srgbClr val="FFE8BF"/>
            </a:solidFill>
            <a:ln w="13716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1" name="flow-output-rigid-0-observation"/>
            <p:cNvSpPr/>
            <p:nvPr/>
          </p:nvSpPr>
          <p:spPr>
            <a:xfrm>
              <a:off x="4655820" y="7917180"/>
              <a:ext cx="58673" cy="58673"/>
            </a:xfrm>
            <a:prstGeom prst="ellipse">
              <a:avLst/>
            </a:prstGeom>
            <a:solidFill>
              <a:srgbClr val="A53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2" name="flow-output-rigid-1"/>
            <p:cNvSpPr/>
            <p:nvPr/>
          </p:nvSpPr>
          <p:spPr>
            <a:xfrm>
              <a:off x="4892040" y="7886700"/>
              <a:ext cx="167640" cy="167640"/>
            </a:xfrm>
            <a:prstGeom prst="rect">
              <a:avLst/>
            </a:prstGeom>
            <a:solidFill>
              <a:srgbClr val="FFE8BF"/>
            </a:solidFill>
            <a:ln w="13716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3" name="flow-output-rigid-1-hatch-a"/>
            <p:cNvCxnSpPr/>
            <p:nvPr/>
          </p:nvCxnSpPr>
          <p:spPr>
            <a:xfrm>
              <a:off x="4899660" y="7894320"/>
              <a:ext cx="22860" cy="22860"/>
            </a:xfrm>
            <a:custGeom>
              <a:avLst/>
              <a:gdLst/>
              <a:ahLst/>
              <a:cxnLst/>
              <a:rect l="0" t="0" r="r" b="b"/>
              <a:pathLst>
                <a:path w="3000" h="3000" fill="none" stroke="1">
                  <a:moveTo>
                    <a:pt x="0" y="3000"/>
                  </a:moveTo>
                  <a:lnTo>
                    <a:pt x="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flow-output-rigid-1-hatch-b"/>
            <p:cNvCxnSpPr/>
            <p:nvPr/>
          </p:nvCxnSpPr>
          <p:spPr>
            <a:xfrm>
              <a:off x="4899660" y="7894320"/>
              <a:ext cx="60960" cy="60960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flow-output-rigid-1-hatch-c"/>
            <p:cNvCxnSpPr/>
            <p:nvPr/>
          </p:nvCxnSpPr>
          <p:spPr>
            <a:xfrm>
              <a:off x="4899660" y="7894320"/>
              <a:ext cx="99060" cy="99060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flow-output-rigid-1-hatch-d"/>
            <p:cNvCxnSpPr/>
            <p:nvPr/>
          </p:nvCxnSpPr>
          <p:spPr>
            <a:xfrm>
              <a:off x="4899660" y="7894320"/>
              <a:ext cx="137160" cy="137160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flow-output-rigid-1-hatch-e"/>
            <p:cNvCxnSpPr/>
            <p:nvPr/>
          </p:nvCxnSpPr>
          <p:spPr>
            <a:xfrm>
              <a:off x="4922520" y="7917180"/>
              <a:ext cx="129540" cy="129540"/>
            </a:xfrm>
            <a:custGeom>
              <a:avLst/>
              <a:gdLst/>
              <a:ahLst/>
              <a:cxnLst/>
              <a:rect l="0" t="0" r="r" b="b"/>
              <a:pathLst>
                <a:path w="17000" h="17000" fill="none" stroke="1">
                  <a:moveTo>
                    <a:pt x="0" y="17000"/>
                  </a:moveTo>
                  <a:lnTo>
                    <a:pt x="17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flow-output-rigid-1-hatch-f"/>
            <p:cNvCxnSpPr/>
            <p:nvPr/>
          </p:nvCxnSpPr>
          <p:spPr>
            <a:xfrm>
              <a:off x="4960620" y="7955280"/>
              <a:ext cx="91440" cy="91440"/>
            </a:xfrm>
            <a:custGeom>
              <a:avLst/>
              <a:gdLst/>
              <a:ahLst/>
              <a:cxnLst/>
              <a:rect l="0" t="0" r="r" b="b"/>
              <a:pathLst>
                <a:path w="12000" h="12000" fill="none" stroke="1">
                  <a:moveTo>
                    <a:pt x="0" y="12000"/>
                  </a:moveTo>
                  <a:lnTo>
                    <a:pt x="12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flow-output-rigid-1-hatch-g"/>
            <p:cNvCxnSpPr/>
            <p:nvPr/>
          </p:nvCxnSpPr>
          <p:spPr>
            <a:xfrm>
              <a:off x="4998720" y="7993380"/>
              <a:ext cx="53340" cy="53340"/>
            </a:xfrm>
            <a:custGeom>
              <a:avLst/>
              <a:gdLst/>
              <a:ahLst/>
              <a:cxnLst/>
              <a:rect l="0" t="0" r="r" b="b"/>
              <a:pathLst>
                <a:path w="7000" h="7000" fill="none" stroke="1">
                  <a:moveTo>
                    <a:pt x="0" y="7000"/>
                  </a:moveTo>
                  <a:lnTo>
                    <a:pt x="7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flow-output-rigid-1-hatch-h"/>
            <p:cNvCxnSpPr/>
            <p:nvPr/>
          </p:nvCxnSpPr>
          <p:spPr>
            <a:xfrm>
              <a:off x="5036820" y="8031480"/>
              <a:ext cx="15240" cy="15240"/>
            </a:xfrm>
            <a:custGeom>
              <a:avLst/>
              <a:gdLst/>
              <a:ahLst/>
              <a:cxnLst/>
              <a:rect l="0" t="0" r="r" b="b"/>
              <a:pathLst>
                <a:path w="2000" h="2000" fill="none" stroke="1">
                  <a:moveTo>
                    <a:pt x="0" y="2000"/>
                  </a:moveTo>
                  <a:lnTo>
                    <a:pt x="2000" y="0"/>
                  </a:lnTo>
                </a:path>
              </a:pathLst>
            </a:custGeom>
            <a:ln w="8382">
              <a:solidFill>
                <a:srgbClr val="FF8500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flow-output-rigid-free"/>
            <p:cNvSpPr/>
            <p:nvPr/>
          </p:nvSpPr>
          <p:spPr>
            <a:xfrm>
              <a:off x="5189220" y="7886700"/>
              <a:ext cx="167640" cy="16764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2" name="flow-output-rigid-ellipsis-0"/>
            <p:cNvSpPr/>
            <p:nvPr/>
          </p:nvSpPr>
          <p:spPr>
            <a:xfrm>
              <a:off x="5463540" y="796290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3" name="flow-output-rigid-ellipsis-1"/>
            <p:cNvSpPr/>
            <p:nvPr/>
          </p:nvSpPr>
          <p:spPr>
            <a:xfrm>
              <a:off x="5532120" y="796290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4" name="flow-output-rigid-ellipsis-2"/>
            <p:cNvSpPr/>
            <p:nvPr/>
          </p:nvSpPr>
          <p:spPr>
            <a:xfrm>
              <a:off x="5600700" y="796290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5" name="flow-input-human-0"/>
            <p:cNvSpPr/>
            <p:nvPr/>
          </p:nvSpPr>
          <p:spPr>
            <a:xfrm>
              <a:off x="2514600" y="8122920"/>
              <a:ext cx="167640" cy="167640"/>
            </a:xfrm>
            <a:prstGeom prst="rect">
              <a:avLst/>
            </a:prstGeom>
            <a:solidFill>
              <a:srgbClr val="C9F0DF"/>
            </a:solidFill>
            <a:ln w="13716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6" name="flow-input-human-0-observation"/>
            <p:cNvSpPr/>
            <p:nvPr/>
          </p:nvSpPr>
          <p:spPr>
            <a:xfrm>
              <a:off x="2545080" y="8153400"/>
              <a:ext cx="58673" cy="58673"/>
            </a:xfrm>
            <a:prstGeom prst="ellipse">
              <a:avLst/>
            </a:prstGeom>
            <a:solidFill>
              <a:srgbClr val="0083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7" name="flow-input-human-1"/>
            <p:cNvSpPr/>
            <p:nvPr/>
          </p:nvSpPr>
          <p:spPr>
            <a:xfrm>
              <a:off x="2781300" y="8122920"/>
              <a:ext cx="167640" cy="167640"/>
            </a:xfrm>
            <a:prstGeom prst="rect">
              <a:avLst/>
            </a:prstGeom>
            <a:solidFill>
              <a:srgbClr val="C9F0DF"/>
            </a:solidFill>
            <a:ln w="13716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8" name="flow-input-human-free"/>
            <p:cNvSpPr/>
            <p:nvPr/>
          </p:nvSpPr>
          <p:spPr>
            <a:xfrm>
              <a:off x="3017520" y="8122920"/>
              <a:ext cx="167640" cy="16764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9" name="flow-input-human-ellipsis-0"/>
            <p:cNvSpPr/>
            <p:nvPr/>
          </p:nvSpPr>
          <p:spPr>
            <a:xfrm>
              <a:off x="3291840" y="819912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0" name="flow-input-human-ellipsis-1"/>
            <p:cNvSpPr/>
            <p:nvPr/>
          </p:nvSpPr>
          <p:spPr>
            <a:xfrm>
              <a:off x="3360419" y="819912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1" name="flow-input-human-ellipsis-2"/>
            <p:cNvSpPr/>
            <p:nvPr/>
          </p:nvSpPr>
          <p:spPr>
            <a:xfrm>
              <a:off x="3429000" y="819912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2" name="flow-output-human-0"/>
            <p:cNvSpPr/>
            <p:nvPr/>
          </p:nvSpPr>
          <p:spPr>
            <a:xfrm>
              <a:off x="4625340" y="8122920"/>
              <a:ext cx="167640" cy="167640"/>
            </a:xfrm>
            <a:prstGeom prst="rect">
              <a:avLst/>
            </a:prstGeom>
            <a:solidFill>
              <a:srgbClr val="C9F0DF"/>
            </a:solidFill>
            <a:ln w="13716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3" name="flow-output-human-0-observation"/>
            <p:cNvSpPr/>
            <p:nvPr/>
          </p:nvSpPr>
          <p:spPr>
            <a:xfrm>
              <a:off x="4655820" y="8153400"/>
              <a:ext cx="58673" cy="58673"/>
            </a:xfrm>
            <a:prstGeom prst="ellipse">
              <a:avLst/>
            </a:prstGeom>
            <a:solidFill>
              <a:srgbClr val="0083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4" name="flow-output-human-1"/>
            <p:cNvSpPr/>
            <p:nvPr/>
          </p:nvSpPr>
          <p:spPr>
            <a:xfrm>
              <a:off x="4892040" y="8122920"/>
              <a:ext cx="167640" cy="167640"/>
            </a:xfrm>
            <a:prstGeom prst="rect">
              <a:avLst/>
            </a:prstGeom>
            <a:solidFill>
              <a:srgbClr val="C9F0DF"/>
            </a:solidFill>
            <a:ln w="13716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5" name="flow-output-human-1-hatch-a"/>
            <p:cNvCxnSpPr/>
            <p:nvPr/>
          </p:nvCxnSpPr>
          <p:spPr>
            <a:xfrm>
              <a:off x="4899660" y="8130539"/>
              <a:ext cx="22860" cy="22861"/>
            </a:xfrm>
            <a:custGeom>
              <a:avLst/>
              <a:gdLst/>
              <a:ahLst/>
              <a:cxnLst/>
              <a:rect l="0" t="0" r="r" b="b"/>
              <a:pathLst>
                <a:path w="3000" h="3000" fill="none" stroke="1">
                  <a:moveTo>
                    <a:pt x="0" y="3000"/>
                  </a:moveTo>
                  <a:lnTo>
                    <a:pt x="3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flow-output-human-1-hatch-b"/>
            <p:cNvCxnSpPr/>
            <p:nvPr/>
          </p:nvCxnSpPr>
          <p:spPr>
            <a:xfrm>
              <a:off x="4899660" y="8130539"/>
              <a:ext cx="60960" cy="60961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flow-output-human-1-hatch-c"/>
            <p:cNvCxnSpPr/>
            <p:nvPr/>
          </p:nvCxnSpPr>
          <p:spPr>
            <a:xfrm>
              <a:off x="4899660" y="8130539"/>
              <a:ext cx="99060" cy="99061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flow-output-human-1-hatch-d"/>
            <p:cNvCxnSpPr/>
            <p:nvPr/>
          </p:nvCxnSpPr>
          <p:spPr>
            <a:xfrm>
              <a:off x="4899660" y="8130539"/>
              <a:ext cx="137160" cy="137161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flow-output-human-1-hatch-e"/>
            <p:cNvCxnSpPr/>
            <p:nvPr/>
          </p:nvCxnSpPr>
          <p:spPr>
            <a:xfrm>
              <a:off x="4922520" y="8153400"/>
              <a:ext cx="129540" cy="129539"/>
            </a:xfrm>
            <a:custGeom>
              <a:avLst/>
              <a:gdLst/>
              <a:ahLst/>
              <a:cxnLst/>
              <a:rect l="0" t="0" r="r" b="b"/>
              <a:pathLst>
                <a:path w="17000" h="17000" fill="none" stroke="1">
                  <a:moveTo>
                    <a:pt x="0" y="17000"/>
                  </a:moveTo>
                  <a:lnTo>
                    <a:pt x="17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flow-output-human-1-hatch-f"/>
            <p:cNvCxnSpPr/>
            <p:nvPr/>
          </p:nvCxnSpPr>
          <p:spPr>
            <a:xfrm>
              <a:off x="4960620" y="8191500"/>
              <a:ext cx="91440" cy="91439"/>
            </a:xfrm>
            <a:custGeom>
              <a:avLst/>
              <a:gdLst/>
              <a:ahLst/>
              <a:cxnLst/>
              <a:rect l="0" t="0" r="r" b="b"/>
              <a:pathLst>
                <a:path w="12000" h="12000" fill="none" stroke="1">
                  <a:moveTo>
                    <a:pt x="0" y="12000"/>
                  </a:moveTo>
                  <a:lnTo>
                    <a:pt x="12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flow-output-human-1-hatch-g"/>
            <p:cNvCxnSpPr/>
            <p:nvPr/>
          </p:nvCxnSpPr>
          <p:spPr>
            <a:xfrm>
              <a:off x="4998720" y="8229600"/>
              <a:ext cx="53340" cy="53339"/>
            </a:xfrm>
            <a:custGeom>
              <a:avLst/>
              <a:gdLst/>
              <a:ahLst/>
              <a:cxnLst/>
              <a:rect l="0" t="0" r="r" b="b"/>
              <a:pathLst>
                <a:path w="7000" h="7000" fill="none" stroke="1">
                  <a:moveTo>
                    <a:pt x="0" y="7000"/>
                  </a:moveTo>
                  <a:lnTo>
                    <a:pt x="7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flow-output-human-1-hatch-h"/>
            <p:cNvCxnSpPr/>
            <p:nvPr/>
          </p:nvCxnSpPr>
          <p:spPr>
            <a:xfrm>
              <a:off x="5036820" y="8267700"/>
              <a:ext cx="15240" cy="15239"/>
            </a:xfrm>
            <a:custGeom>
              <a:avLst/>
              <a:gdLst/>
              <a:ahLst/>
              <a:cxnLst/>
              <a:rect l="0" t="0" r="r" b="b"/>
              <a:pathLst>
                <a:path w="2000" h="2000" fill="none" stroke="1">
                  <a:moveTo>
                    <a:pt x="0" y="2000"/>
                  </a:moveTo>
                  <a:lnTo>
                    <a:pt x="2000" y="0"/>
                  </a:lnTo>
                </a:path>
              </a:pathLst>
            </a:custGeom>
            <a:ln w="8382">
              <a:solidFill>
                <a:srgbClr val="00B88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3" name="flow-output-human-free"/>
            <p:cNvSpPr/>
            <p:nvPr/>
          </p:nvSpPr>
          <p:spPr>
            <a:xfrm>
              <a:off x="5189220" y="8122920"/>
              <a:ext cx="167640" cy="16764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4" name="flow-output-human-ellipsis-0"/>
            <p:cNvSpPr/>
            <p:nvPr/>
          </p:nvSpPr>
          <p:spPr>
            <a:xfrm>
              <a:off x="5463540" y="819912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5" name="flow-output-human-ellipsis-1"/>
            <p:cNvSpPr/>
            <p:nvPr/>
          </p:nvSpPr>
          <p:spPr>
            <a:xfrm>
              <a:off x="5532120" y="819912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6" name="flow-output-human-ellipsis-2"/>
            <p:cNvSpPr/>
            <p:nvPr/>
          </p:nvSpPr>
          <p:spPr>
            <a:xfrm>
              <a:off x="5600700" y="819912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7" name="flow-plus"/>
            <p:cNvSpPr txBox="1"/>
            <p:nvPr/>
          </p:nvSpPr>
          <p:spPr>
            <a:xfrm>
              <a:off x="3863340" y="7703820"/>
              <a:ext cx="304800" cy="3657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1" i="0">
                  <a:solidFill>
                    <a:srgbClr val="10121A"/>
                  </a:solidFill>
                  <a:latin typeface="Times New Roman"/>
                </a:rPr>
                <a:t>+</a:t>
              </a:r>
            </a:p>
          </p:txBody>
        </p:sp>
        <p:sp>
          <p:nvSpPr>
            <p:cNvPr id="418" name="flow-delta"/>
            <p:cNvSpPr txBox="1"/>
            <p:nvPr/>
          </p:nvSpPr>
          <p:spPr>
            <a:xfrm>
              <a:off x="3573779" y="8039100"/>
              <a:ext cx="906779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Δ</a:t>
              </a:r>
              <a:r>
                <a:rPr sz="1500" b="0" i="1">
                  <a:solidFill>
                    <a:srgbClr val="10121A"/>
                  </a:solidFill>
                  <a:latin typeface="Times New Roman"/>
                </a:rPr>
                <a:t>τ</a:t>
              </a: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 · (</a:t>
              </a:r>
              <a:r>
                <a:rPr sz="1500" b="0" i="1">
                  <a:solidFill>
                    <a:srgbClr val="10121A"/>
                  </a:solidFill>
                  <a:latin typeface="Times New Roman"/>
                </a:rPr>
                <a:t>u</a:t>
              </a: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 · </a:t>
              </a:r>
              <a:r>
                <a:rPr sz="1500" b="0" i="1">
                  <a:solidFill>
                    <a:srgbClr val="10121A"/>
                  </a:solidFill>
                  <a:latin typeface="Times New Roman"/>
                </a:rPr>
                <a:t>v</a:t>
              </a:r>
              <a:r>
                <a:rPr sz="1080" b="0" i="0" baseline="-25000">
                  <a:solidFill>
                    <a:srgbClr val="10121A"/>
                  </a:solidFill>
                  <a:latin typeface="Times New Roman"/>
                </a:rPr>
                <a:t>θ</a:t>
              </a:r>
              <a:r>
                <a:rPr sz="1500" b="0" i="0">
                  <a:solidFill>
                    <a:srgbClr val="10121A"/>
                  </a:solidFill>
                  <a:latin typeface="Times New Roman"/>
                </a:rPr>
                <a:t>)</a:t>
              </a:r>
            </a:p>
          </p:txBody>
        </p:sp>
        <p:cxnSp>
          <p:nvCxnSpPr>
            <p:cNvPr id="419" name="flow-add-result-arrow"/>
            <p:cNvCxnSpPr/>
            <p:nvPr/>
          </p:nvCxnSpPr>
          <p:spPr>
            <a:xfrm>
              <a:off x="4297680" y="7932420"/>
              <a:ext cx="213360" cy="762"/>
            </a:xfrm>
            <a:custGeom>
              <a:avLst/>
              <a:gdLst/>
              <a:ahLst/>
              <a:cxnLst/>
              <a:rect l="0" t="0" r="r" b="b"/>
              <a:pathLst>
                <a:path w="28000" h="100" fill="none" stroke="1">
                  <a:moveTo>
                    <a:pt x="0" y="0"/>
                  </a:moveTo>
                  <a:lnTo>
                    <a:pt x="28000" y="0"/>
                  </a:lnTo>
                </a:path>
              </a:pathLst>
            </a:custGeom>
            <a:ln w="18288">
              <a:solidFill>
                <a:srgbClr val="10121A"/>
              </a:solidFill>
              <a:round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0" name="projection-panel"/>
            <p:cNvSpPr/>
            <p:nvPr/>
          </p:nvSpPr>
          <p:spPr>
            <a:xfrm>
              <a:off x="6256020" y="7376159"/>
              <a:ext cx="3208020" cy="1013460"/>
            </a:xfrm>
            <a:prstGeom prst="roundRect">
              <a:avLst>
                <a:gd name="adj" fmla="val 7518"/>
              </a:avLst>
            </a:prstGeom>
            <a:solidFill>
              <a:srgbClr val="F5FAFE"/>
            </a:solidFill>
            <a:ln w="13716">
              <a:solidFill>
                <a:srgbClr val="7B92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1" name="projection-title"/>
            <p:cNvSpPr txBox="1"/>
            <p:nvPr/>
          </p:nvSpPr>
          <p:spPr>
            <a:xfrm>
              <a:off x="6667500" y="7399020"/>
              <a:ext cx="2621280" cy="25907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20" b="1" i="0">
                  <a:solidFill>
                    <a:srgbClr val="10121A"/>
                  </a:solidFill>
                  <a:latin typeface="Times New Roman"/>
                </a:rPr>
                <a:t>Projection</a:t>
              </a:r>
              <a:r>
                <a:rPr sz="1620" b="0" i="0">
                  <a:solidFill>
                    <a:srgbClr val="10121A"/>
                  </a:solidFill>
                  <a:latin typeface="Times New Roman"/>
                </a:rPr>
                <a:t> </a:t>
              </a:r>
              <a:r>
                <a:rPr sz="1377" b="0" i="0">
                  <a:solidFill>
                    <a:srgbClr val="10121A"/>
                  </a:solidFill>
                  <a:latin typeface="Times New Roman"/>
                </a:rPr>
                <a:t>(restore constraints)</a:t>
              </a:r>
            </a:p>
          </p:txBody>
        </p:sp>
        <p:sp>
          <p:nvSpPr>
            <p:cNvPr id="422" name="projection-output-strip"/>
            <p:cNvSpPr/>
            <p:nvPr/>
          </p:nvSpPr>
          <p:spPr>
            <a:xfrm>
              <a:off x="6423659" y="7612380"/>
              <a:ext cx="525780" cy="716280"/>
            </a:xfrm>
            <a:prstGeom prst="roundRect">
              <a:avLst>
                <a:gd name="adj" fmla="val 5797"/>
              </a:avLst>
            </a:prstGeom>
            <a:solidFill>
              <a:srgbClr val="F8FDFF"/>
            </a:solidFill>
            <a:ln w="7620">
              <a:solidFill>
                <a:srgbClr val="8ECB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3" name="projection-background-0"/>
            <p:cNvSpPr/>
            <p:nvPr/>
          </p:nvSpPr>
          <p:spPr>
            <a:xfrm>
              <a:off x="6477000" y="7650480"/>
              <a:ext cx="167640" cy="167640"/>
            </a:xfrm>
            <a:prstGeom prst="rect">
              <a:avLst/>
            </a:prstGeom>
            <a:solidFill>
              <a:srgbClr val="CBEAF9"/>
            </a:solidFill>
            <a:ln w="13716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4" name="projection-background-0-observation"/>
            <p:cNvSpPr/>
            <p:nvPr/>
          </p:nvSpPr>
          <p:spPr>
            <a:xfrm>
              <a:off x="6507480" y="7680959"/>
              <a:ext cx="58673" cy="58673"/>
            </a:xfrm>
            <a:prstGeom prst="ellipse">
              <a:avLst/>
            </a:prstGeom>
            <a:solidFill>
              <a:srgbClr val="003B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5" name="projection-background-1"/>
            <p:cNvSpPr/>
            <p:nvPr/>
          </p:nvSpPr>
          <p:spPr>
            <a:xfrm>
              <a:off x="6743700" y="7650480"/>
              <a:ext cx="167640" cy="167640"/>
            </a:xfrm>
            <a:prstGeom prst="rect">
              <a:avLst/>
            </a:prstGeom>
            <a:solidFill>
              <a:srgbClr val="CBEAF9"/>
            </a:solidFill>
            <a:ln w="13716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" name="projection-background-free"/>
            <p:cNvSpPr/>
            <p:nvPr/>
          </p:nvSpPr>
          <p:spPr>
            <a:xfrm>
              <a:off x="6995159" y="7650480"/>
              <a:ext cx="167640" cy="16764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7" name="projection-background-ellipsis-0"/>
            <p:cNvSpPr/>
            <p:nvPr/>
          </p:nvSpPr>
          <p:spPr>
            <a:xfrm>
              <a:off x="7315200" y="772668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8" name="projection-background-ellipsis-1"/>
            <p:cNvSpPr/>
            <p:nvPr/>
          </p:nvSpPr>
          <p:spPr>
            <a:xfrm>
              <a:off x="7383780" y="772668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9" name="projection-background-ellipsis-2"/>
            <p:cNvSpPr/>
            <p:nvPr/>
          </p:nvSpPr>
          <p:spPr>
            <a:xfrm>
              <a:off x="7452359" y="772668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0" name="projection-rigid-0"/>
            <p:cNvSpPr/>
            <p:nvPr/>
          </p:nvSpPr>
          <p:spPr>
            <a:xfrm>
              <a:off x="6477000" y="7886700"/>
              <a:ext cx="167640" cy="167640"/>
            </a:xfrm>
            <a:prstGeom prst="rect">
              <a:avLst/>
            </a:prstGeom>
            <a:solidFill>
              <a:srgbClr val="FFE8BF"/>
            </a:solidFill>
            <a:ln w="13716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1" name="projection-rigid-0-observation"/>
            <p:cNvSpPr/>
            <p:nvPr/>
          </p:nvSpPr>
          <p:spPr>
            <a:xfrm>
              <a:off x="6507480" y="7917180"/>
              <a:ext cx="58673" cy="58673"/>
            </a:xfrm>
            <a:prstGeom prst="ellipse">
              <a:avLst/>
            </a:prstGeom>
            <a:solidFill>
              <a:srgbClr val="A53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2" name="projection-rigid-1"/>
            <p:cNvSpPr/>
            <p:nvPr/>
          </p:nvSpPr>
          <p:spPr>
            <a:xfrm>
              <a:off x="6743700" y="7886700"/>
              <a:ext cx="167640" cy="167640"/>
            </a:xfrm>
            <a:prstGeom prst="rect">
              <a:avLst/>
            </a:prstGeom>
            <a:solidFill>
              <a:srgbClr val="FFE8BF"/>
            </a:solidFill>
            <a:ln w="13716">
              <a:solidFill>
                <a:srgbClr val="FF85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3" name="projection-rigid-free"/>
            <p:cNvSpPr/>
            <p:nvPr/>
          </p:nvSpPr>
          <p:spPr>
            <a:xfrm>
              <a:off x="6995159" y="7886700"/>
              <a:ext cx="167640" cy="16764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4" name="projection-rigid-ellipsis-0"/>
            <p:cNvSpPr/>
            <p:nvPr/>
          </p:nvSpPr>
          <p:spPr>
            <a:xfrm>
              <a:off x="7315200" y="796290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5" name="projection-rigid-ellipsis-1"/>
            <p:cNvSpPr/>
            <p:nvPr/>
          </p:nvSpPr>
          <p:spPr>
            <a:xfrm>
              <a:off x="7383780" y="796290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6" name="projection-rigid-ellipsis-2"/>
            <p:cNvSpPr/>
            <p:nvPr/>
          </p:nvSpPr>
          <p:spPr>
            <a:xfrm>
              <a:off x="7452359" y="796290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7" name="projection-human-0"/>
            <p:cNvSpPr/>
            <p:nvPr/>
          </p:nvSpPr>
          <p:spPr>
            <a:xfrm>
              <a:off x="6477000" y="8122920"/>
              <a:ext cx="167640" cy="167640"/>
            </a:xfrm>
            <a:prstGeom prst="rect">
              <a:avLst/>
            </a:prstGeom>
            <a:solidFill>
              <a:srgbClr val="C9F0DF"/>
            </a:solidFill>
            <a:ln w="13716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8" name="projection-human-0-observation"/>
            <p:cNvSpPr/>
            <p:nvPr/>
          </p:nvSpPr>
          <p:spPr>
            <a:xfrm>
              <a:off x="6507480" y="8153400"/>
              <a:ext cx="58673" cy="58673"/>
            </a:xfrm>
            <a:prstGeom prst="ellipse">
              <a:avLst/>
            </a:prstGeom>
            <a:solidFill>
              <a:srgbClr val="0083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9" name="projection-human-1"/>
            <p:cNvSpPr/>
            <p:nvPr/>
          </p:nvSpPr>
          <p:spPr>
            <a:xfrm>
              <a:off x="6743700" y="8122920"/>
              <a:ext cx="167640" cy="167640"/>
            </a:xfrm>
            <a:prstGeom prst="rect">
              <a:avLst/>
            </a:prstGeom>
            <a:solidFill>
              <a:srgbClr val="C9F0DF"/>
            </a:solidFill>
            <a:ln w="13716">
              <a:solidFill>
                <a:srgbClr val="00B8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0" name="projection-human-free"/>
            <p:cNvSpPr/>
            <p:nvPr/>
          </p:nvSpPr>
          <p:spPr>
            <a:xfrm>
              <a:off x="6995159" y="8122920"/>
              <a:ext cx="167640" cy="16764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1" name="projection-human-ellipsis-0"/>
            <p:cNvSpPr/>
            <p:nvPr/>
          </p:nvSpPr>
          <p:spPr>
            <a:xfrm>
              <a:off x="7315200" y="819912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2" name="projection-human-ellipsis-1"/>
            <p:cNvSpPr/>
            <p:nvPr/>
          </p:nvSpPr>
          <p:spPr>
            <a:xfrm>
              <a:off x="7383780" y="819912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3" name="projection-human-ellipsis-2"/>
            <p:cNvSpPr/>
            <p:nvPr/>
          </p:nvSpPr>
          <p:spPr>
            <a:xfrm>
              <a:off x="7452359" y="8199120"/>
              <a:ext cx="28194" cy="28194"/>
            </a:xfrm>
            <a:prstGeom prst="ellipse">
              <a:avLst/>
            </a:prstGeom>
            <a:solidFill>
              <a:srgbClr val="1012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4" name="legend-observed-symbol"/>
            <p:cNvSpPr/>
            <p:nvPr/>
          </p:nvSpPr>
          <p:spPr>
            <a:xfrm>
              <a:off x="7825739" y="7665720"/>
              <a:ext cx="213360" cy="182879"/>
            </a:xfrm>
            <a:prstGeom prst="roundRect">
              <a:avLst>
                <a:gd name="adj" fmla="val 8333"/>
              </a:avLst>
            </a:prstGeom>
            <a:solidFill>
              <a:srgbClr val="6A8292"/>
            </a:solidFill>
            <a:ln w="7620">
              <a:solidFill>
                <a:srgbClr val="6A82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legend-unknown-symbol"/>
            <p:cNvSpPr/>
            <p:nvPr/>
          </p:nvSpPr>
          <p:spPr>
            <a:xfrm>
              <a:off x="7825739" y="7894320"/>
              <a:ext cx="213360" cy="213360"/>
            </a:xfrm>
            <a:prstGeom prst="rect">
              <a:avLst/>
            </a:prstGeom>
            <a:solidFill>
              <a:srgbClr val="CBEAF9"/>
            </a:solidFill>
            <a:ln w="13716">
              <a:solidFill>
                <a:srgbClr val="0785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6" name="legend-unknown-symbol-hatch-a"/>
            <p:cNvCxnSpPr/>
            <p:nvPr/>
          </p:nvCxnSpPr>
          <p:spPr>
            <a:xfrm>
              <a:off x="7833359" y="7901939"/>
              <a:ext cx="22861" cy="22861"/>
            </a:xfrm>
            <a:custGeom>
              <a:avLst/>
              <a:gdLst/>
              <a:ahLst/>
              <a:cxnLst/>
              <a:rect l="0" t="0" r="r" b="b"/>
              <a:pathLst>
                <a:path w="3000" h="3000" fill="none" stroke="1">
                  <a:moveTo>
                    <a:pt x="0" y="3000"/>
                  </a:moveTo>
                  <a:lnTo>
                    <a:pt x="3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legend-unknown-symbol-hatch-b"/>
            <p:cNvCxnSpPr/>
            <p:nvPr/>
          </p:nvCxnSpPr>
          <p:spPr>
            <a:xfrm>
              <a:off x="7833359" y="7901939"/>
              <a:ext cx="60961" cy="60961"/>
            </a:xfrm>
            <a:custGeom>
              <a:avLst/>
              <a:gdLst/>
              <a:ahLst/>
              <a:cxnLst/>
              <a:rect l="0" t="0" r="r" b="b"/>
              <a:pathLst>
                <a:path w="8000" h="8000" fill="none" stroke="1">
                  <a:moveTo>
                    <a:pt x="0" y="8000"/>
                  </a:moveTo>
                  <a:lnTo>
                    <a:pt x="8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legend-unknown-symbol-hatch-c"/>
            <p:cNvCxnSpPr/>
            <p:nvPr/>
          </p:nvCxnSpPr>
          <p:spPr>
            <a:xfrm>
              <a:off x="7833359" y="7901939"/>
              <a:ext cx="99061" cy="99061"/>
            </a:xfrm>
            <a:custGeom>
              <a:avLst/>
              <a:gdLst/>
              <a:ahLst/>
              <a:cxnLst/>
              <a:rect l="0" t="0" r="r" b="b"/>
              <a:pathLst>
                <a:path w="13000" h="13000" fill="none" stroke="1">
                  <a:moveTo>
                    <a:pt x="0" y="13000"/>
                  </a:moveTo>
                  <a:lnTo>
                    <a:pt x="13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legend-unknown-symbol-hatch-d"/>
            <p:cNvCxnSpPr/>
            <p:nvPr/>
          </p:nvCxnSpPr>
          <p:spPr>
            <a:xfrm>
              <a:off x="7833359" y="7901939"/>
              <a:ext cx="137161" cy="137161"/>
            </a:xfrm>
            <a:custGeom>
              <a:avLst/>
              <a:gdLst/>
              <a:ahLst/>
              <a:cxnLst/>
              <a:rect l="0" t="0" r="r" b="b"/>
              <a:pathLst>
                <a:path w="18000" h="18000" fill="none" stroke="1">
                  <a:moveTo>
                    <a:pt x="0" y="18000"/>
                  </a:moveTo>
                  <a:lnTo>
                    <a:pt x="18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legend-unknown-symbol-hatch-e"/>
            <p:cNvCxnSpPr/>
            <p:nvPr/>
          </p:nvCxnSpPr>
          <p:spPr>
            <a:xfrm>
              <a:off x="7833359" y="7901939"/>
              <a:ext cx="175261" cy="175261"/>
            </a:xfrm>
            <a:custGeom>
              <a:avLst/>
              <a:gdLst/>
              <a:ahLst/>
              <a:cxnLst/>
              <a:rect l="0" t="0" r="r" b="b"/>
              <a:pathLst>
                <a:path w="23000" h="23000" fill="none" stroke="1">
                  <a:moveTo>
                    <a:pt x="0" y="23000"/>
                  </a:moveTo>
                  <a:lnTo>
                    <a:pt x="23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legend-unknown-symbol-hatch-f"/>
            <p:cNvCxnSpPr/>
            <p:nvPr/>
          </p:nvCxnSpPr>
          <p:spPr>
            <a:xfrm>
              <a:off x="7848600" y="7917180"/>
              <a:ext cx="182880" cy="182879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 stroke="1">
                  <a:moveTo>
                    <a:pt x="0" y="24000"/>
                  </a:moveTo>
                  <a:lnTo>
                    <a:pt x="24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legend-unknown-symbol-hatch-g"/>
            <p:cNvCxnSpPr/>
            <p:nvPr/>
          </p:nvCxnSpPr>
          <p:spPr>
            <a:xfrm>
              <a:off x="7886700" y="7955280"/>
              <a:ext cx="144780" cy="144779"/>
            </a:xfrm>
            <a:custGeom>
              <a:avLst/>
              <a:gdLst/>
              <a:ahLst/>
              <a:cxnLst/>
              <a:rect l="0" t="0" r="r" b="b"/>
              <a:pathLst>
                <a:path w="19000" h="19000" fill="none" stroke="1">
                  <a:moveTo>
                    <a:pt x="0" y="19000"/>
                  </a:moveTo>
                  <a:lnTo>
                    <a:pt x="19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legend-unknown-symbol-hatch-h"/>
            <p:cNvCxnSpPr/>
            <p:nvPr/>
          </p:nvCxnSpPr>
          <p:spPr>
            <a:xfrm>
              <a:off x="7924800" y="7993380"/>
              <a:ext cx="106680" cy="106679"/>
            </a:xfrm>
            <a:custGeom>
              <a:avLst/>
              <a:gdLst/>
              <a:ahLst/>
              <a:cxnLst/>
              <a:rect l="0" t="0" r="r" b="b"/>
              <a:pathLst>
                <a:path w="14000" h="14000" fill="none" stroke="1">
                  <a:moveTo>
                    <a:pt x="0" y="14000"/>
                  </a:moveTo>
                  <a:lnTo>
                    <a:pt x="14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legend-unknown-symbol-hatch-i"/>
            <p:cNvCxnSpPr/>
            <p:nvPr/>
          </p:nvCxnSpPr>
          <p:spPr>
            <a:xfrm>
              <a:off x="7962900" y="8031480"/>
              <a:ext cx="68580" cy="68579"/>
            </a:xfrm>
            <a:custGeom>
              <a:avLst/>
              <a:gdLst/>
              <a:ahLst/>
              <a:cxnLst/>
              <a:rect l="0" t="0" r="r" b="b"/>
              <a:pathLst>
                <a:path w="9000" h="9000" fill="none" stroke="1">
                  <a:moveTo>
                    <a:pt x="0" y="9000"/>
                  </a:moveTo>
                  <a:lnTo>
                    <a:pt x="9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legend-unknown-symbol-hatch-j"/>
            <p:cNvCxnSpPr/>
            <p:nvPr/>
          </p:nvCxnSpPr>
          <p:spPr>
            <a:xfrm>
              <a:off x="8001000" y="8069580"/>
              <a:ext cx="30480" cy="30479"/>
            </a:xfrm>
            <a:custGeom>
              <a:avLst/>
              <a:gdLst/>
              <a:ahLst/>
              <a:cxnLst/>
              <a:rect l="0" t="0" r="r" b="b"/>
              <a:pathLst>
                <a:path w="4000" h="4000" fill="none" stroke="1">
                  <a:moveTo>
                    <a:pt x="0" y="4000"/>
                  </a:moveTo>
                  <a:lnTo>
                    <a:pt x="4000" y="0"/>
                  </a:lnTo>
                </a:path>
              </a:pathLst>
            </a:custGeom>
            <a:ln w="8382">
              <a:solidFill>
                <a:srgbClr val="0785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6" name="legend-free-symbol"/>
            <p:cNvSpPr/>
            <p:nvPr/>
          </p:nvSpPr>
          <p:spPr>
            <a:xfrm>
              <a:off x="7825739" y="8130539"/>
              <a:ext cx="213360" cy="213360"/>
            </a:xfrm>
            <a:prstGeom prst="rect">
              <a:avLst/>
            </a:prstGeom>
            <a:solidFill>
              <a:srgbClr val="FFFFFF"/>
            </a:solidFill>
            <a:ln w="10668">
              <a:solidFill>
                <a:srgbClr val="8B8B8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7" name="legend-observed-label"/>
            <p:cNvSpPr txBox="1"/>
            <p:nvPr/>
          </p:nvSpPr>
          <p:spPr>
            <a:xfrm>
              <a:off x="8176259" y="7650480"/>
              <a:ext cx="1257300" cy="2362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0" i="0">
                  <a:solidFill>
                    <a:srgbClr val="10121A"/>
                  </a:solidFill>
                  <a:latin typeface="Times New Roman"/>
                </a:rPr>
                <a:t>Observed fixed</a:t>
              </a:r>
            </a:p>
          </p:txBody>
        </p:sp>
        <p:sp>
          <p:nvSpPr>
            <p:cNvPr id="458" name="legend-unknown-label"/>
            <p:cNvSpPr txBox="1"/>
            <p:nvPr/>
          </p:nvSpPr>
          <p:spPr>
            <a:xfrm>
              <a:off x="8176259" y="7879080"/>
              <a:ext cx="1257300" cy="2362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0" i="0">
                  <a:solidFill>
                    <a:srgbClr val="10121A"/>
                  </a:solidFill>
                  <a:latin typeface="Times New Roman"/>
                </a:rPr>
                <a:t>Unknown updated</a:t>
              </a:r>
            </a:p>
          </p:txBody>
        </p:sp>
        <p:sp>
          <p:nvSpPr>
            <p:cNvPr id="459" name="legend-free-label"/>
            <p:cNvSpPr txBox="1"/>
            <p:nvPr/>
          </p:nvSpPr>
          <p:spPr>
            <a:xfrm>
              <a:off x="8176259" y="8115300"/>
              <a:ext cx="1257300" cy="2362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0" i="0">
                  <a:solidFill>
                    <a:srgbClr val="10121A"/>
                  </a:solidFill>
                  <a:latin typeface="Times New Roman"/>
                </a:rPr>
                <a:t>Free zero</a:t>
              </a:r>
            </a:p>
          </p:txBody>
        </p:sp>
        <p:sp>
          <p:nvSpPr>
            <p:cNvPr id="460" name="latent-update-label"/>
            <p:cNvSpPr txBox="1"/>
            <p:nvPr/>
          </p:nvSpPr>
          <p:spPr>
            <a:xfrm>
              <a:off x="3954779" y="8496300"/>
              <a:ext cx="2286000" cy="3124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39" b="0" i="0">
                  <a:solidFill>
                    <a:srgbClr val="FF692F"/>
                  </a:solidFill>
                  <a:latin typeface="Times New Roman"/>
                </a:rPr>
                <a:t>Latent update (× </a:t>
              </a:r>
              <a:r>
                <a:rPr sz="1739" b="0" i="1">
                  <a:solidFill>
                    <a:srgbClr val="FF692F"/>
                  </a:solidFill>
                  <a:latin typeface="Times New Roman"/>
                </a:rPr>
                <a:t>S</a:t>
              </a:r>
              <a:r>
                <a:rPr sz="1739" b="0" i="0">
                  <a:solidFill>
                    <a:srgbClr val="FF692F"/>
                  </a:solidFill>
                  <a:latin typeface="Times New Roman"/>
                </a:rPr>
                <a:t> steps)</a:t>
              </a:r>
            </a:p>
          </p:txBody>
        </p:sp>
      </p:grpSp>
      <p:cxnSp>
        <p:nvCxnSpPr>
          <p:cNvPr id="462" name="condition-to-local"/>
          <p:cNvCxnSpPr>
            <a:stCxn id="4" idx="2"/>
            <a:endCxn id="21" idx="0"/>
          </p:cNvCxnSpPr>
          <p:nvPr/>
        </p:nvCxnSpPr>
        <p:spPr>
          <a:xfrm>
            <a:off x="2727960" y="1234440"/>
            <a:ext cx="762" cy="182880"/>
          </a:xfrm>
          <a:custGeom>
            <a:avLst/>
            <a:gdLst/>
            <a:ahLst/>
            <a:cxnLst/>
            <a:rect l="0" t="0" r="r" b="b"/>
            <a:pathLst>
              <a:path w="100" h="24000" fill="none" stroke="1">
                <a:moveTo>
                  <a:pt x="0" y="0"/>
                </a:moveTo>
                <a:lnTo>
                  <a:pt x="0" y="24000"/>
                </a:lnTo>
              </a:path>
            </a:pathLst>
          </a:custGeom>
          <a:ln w="15240">
            <a:solidFill>
              <a:srgbClr val="929292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dition-to-memory"/>
          <p:cNvCxnSpPr>
            <a:stCxn id="4" idx="3"/>
            <a:endCxn id="150" idx="0"/>
          </p:cNvCxnSpPr>
          <p:nvPr/>
        </p:nvCxnSpPr>
        <p:spPr>
          <a:xfrm>
            <a:off x="5974080" y="929640"/>
            <a:ext cx="830579" cy="518160"/>
          </a:xfrm>
          <a:custGeom>
            <a:avLst/>
            <a:gdLst/>
            <a:ahLst/>
            <a:cxnLst/>
            <a:rect l="0" t="0" r="r" b="b"/>
            <a:pathLst>
              <a:path w="109000" h="68000" fill="none" stroke="1">
                <a:moveTo>
                  <a:pt x="0" y="0"/>
                </a:moveTo>
                <a:lnTo>
                  <a:pt x="109000" y="0"/>
                </a:lnTo>
                <a:lnTo>
                  <a:pt x="109000" y="68000"/>
                </a:lnTo>
              </a:path>
            </a:pathLst>
          </a:custGeom>
          <a:ln w="19050">
            <a:solidFill>
              <a:srgbClr val="929292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urrent-to-local"/>
          <p:cNvCxnSpPr>
            <a:stCxn id="180" idx="0"/>
            <a:endCxn id="21" idx="2"/>
          </p:cNvCxnSpPr>
          <p:nvPr/>
        </p:nvCxnSpPr>
        <p:spPr>
          <a:xfrm>
            <a:off x="1630680" y="4008119"/>
            <a:ext cx="761" cy="693421"/>
          </a:xfrm>
          <a:custGeom>
            <a:avLst/>
            <a:gdLst/>
            <a:ahLst/>
            <a:cxnLst/>
            <a:rect l="0" t="0" r="r" b="b"/>
            <a:pathLst>
              <a:path w="100" h="91000" fill="none" stroke="1">
                <a:moveTo>
                  <a:pt x="0" y="91000"/>
                </a:moveTo>
                <a:lnTo>
                  <a:pt x="0" y="0"/>
                </a:lnTo>
              </a:path>
            </a:pathLst>
          </a:custGeom>
          <a:ln w="24384">
            <a:solidFill>
              <a:srgbClr val="10121A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memory-to-read"/>
          <p:cNvCxnSpPr>
            <a:stCxn id="150" idx="2"/>
            <a:endCxn id="160" idx="0"/>
          </p:cNvCxnSpPr>
          <p:nvPr/>
        </p:nvCxnSpPr>
        <p:spPr>
          <a:xfrm>
            <a:off x="6819900" y="2179320"/>
            <a:ext cx="761" cy="297180"/>
          </a:xfrm>
          <a:custGeom>
            <a:avLst/>
            <a:gdLst/>
            <a:ahLst/>
            <a:cxnLst/>
            <a:rect l="0" t="0" r="r" b="b"/>
            <a:pathLst>
              <a:path w="100" h="39000" fill="none" stroke="1">
                <a:moveTo>
                  <a:pt x="0" y="0"/>
                </a:moveTo>
                <a:lnTo>
                  <a:pt x="0" y="39000"/>
                </a:lnTo>
              </a:path>
            </a:pathLst>
          </a:custGeom>
          <a:ln w="22859">
            <a:solidFill>
              <a:srgbClr val="10121A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local-to-read"/>
          <p:cNvCxnSpPr>
            <a:stCxn id="21" idx="3"/>
            <a:endCxn id="160" idx="1"/>
          </p:cNvCxnSpPr>
          <p:nvPr/>
        </p:nvCxnSpPr>
        <p:spPr>
          <a:xfrm>
            <a:off x="4572000" y="2857500"/>
            <a:ext cx="1165860" cy="762"/>
          </a:xfrm>
          <a:custGeom>
            <a:avLst/>
            <a:gdLst/>
            <a:ahLst/>
            <a:cxnLst/>
            <a:rect l="0" t="0" r="r" b="b"/>
            <a:pathLst>
              <a:path w="153000" h="100" fill="none" stroke="1">
                <a:moveTo>
                  <a:pt x="0" y="0"/>
                </a:moveTo>
                <a:lnTo>
                  <a:pt x="153000" y="0"/>
                </a:lnTo>
              </a:path>
            </a:pathLst>
          </a:custGeom>
          <a:ln w="22859">
            <a:solidFill>
              <a:srgbClr val="10121A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local-to-write"/>
          <p:cNvCxnSpPr>
            <a:stCxn id="21" idx="3"/>
            <a:endCxn id="172" idx="1"/>
          </p:cNvCxnSpPr>
          <p:nvPr/>
        </p:nvCxnSpPr>
        <p:spPr>
          <a:xfrm>
            <a:off x="4572000" y="2857500"/>
            <a:ext cx="2667000" cy="1066800"/>
          </a:xfrm>
          <a:custGeom>
            <a:avLst/>
            <a:gdLst/>
            <a:ahLst/>
            <a:cxnLst/>
            <a:rect l="0" t="0" r="r" b="b"/>
            <a:pathLst>
              <a:path w="350000" h="140000" fill="none" stroke="1">
                <a:moveTo>
                  <a:pt x="0" y="0"/>
                </a:moveTo>
                <a:lnTo>
                  <a:pt x="30000" y="0"/>
                </a:lnTo>
                <a:lnTo>
                  <a:pt x="30000" y="140000"/>
                </a:lnTo>
                <a:lnTo>
                  <a:pt x="350000" y="140000"/>
                </a:lnTo>
              </a:path>
            </a:pathLst>
          </a:custGeom>
          <a:ln w="20574">
            <a:solidFill>
              <a:srgbClr val="10121A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read-to-updated-memory"/>
          <p:cNvCxnSpPr>
            <a:stCxn id="160" idx="3"/>
            <a:endCxn id="164" idx="1"/>
          </p:cNvCxnSpPr>
          <p:nvPr/>
        </p:nvCxnSpPr>
        <p:spPr>
          <a:xfrm>
            <a:off x="7985759" y="2849880"/>
            <a:ext cx="464821" cy="762"/>
          </a:xfrm>
          <a:custGeom>
            <a:avLst/>
            <a:gdLst/>
            <a:ahLst/>
            <a:cxnLst/>
            <a:rect l="0" t="0" r="r" b="b"/>
            <a:pathLst>
              <a:path w="61000" h="100" fill="none" stroke="1">
                <a:moveTo>
                  <a:pt x="0" y="0"/>
                </a:moveTo>
                <a:lnTo>
                  <a:pt x="61000" y="0"/>
                </a:lnTo>
              </a:path>
            </a:pathLst>
          </a:custGeom>
          <a:ln w="22859">
            <a:solidFill>
              <a:srgbClr val="10121A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updated-memory-to-write"/>
          <p:cNvCxnSpPr>
            <a:stCxn id="164" idx="2"/>
            <a:endCxn id="172" idx="0"/>
          </p:cNvCxnSpPr>
          <p:nvPr/>
        </p:nvCxnSpPr>
        <p:spPr>
          <a:xfrm>
            <a:off x="8930640" y="3032760"/>
            <a:ext cx="761" cy="525780"/>
          </a:xfrm>
          <a:custGeom>
            <a:avLst/>
            <a:gdLst/>
            <a:ahLst/>
            <a:cxnLst/>
            <a:rect l="0" t="0" r="r" b="b"/>
            <a:pathLst>
              <a:path w="100" h="69000" fill="none" stroke="1">
                <a:moveTo>
                  <a:pt x="0" y="0"/>
                </a:moveTo>
                <a:lnTo>
                  <a:pt x="0" y="69000"/>
                </a:lnTo>
              </a:path>
            </a:pathLst>
          </a:custGeom>
          <a:ln w="21336">
            <a:solidFill>
              <a:srgbClr val="10121A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write-to-updated-tokens"/>
          <p:cNvCxnSpPr>
            <a:stCxn id="172" idx="2"/>
            <a:endCxn id="247" idx="0"/>
          </p:cNvCxnSpPr>
          <p:nvPr/>
        </p:nvCxnSpPr>
        <p:spPr>
          <a:xfrm>
            <a:off x="8557260" y="4282440"/>
            <a:ext cx="761" cy="213360"/>
          </a:xfrm>
          <a:custGeom>
            <a:avLst/>
            <a:gdLst/>
            <a:ahLst/>
            <a:cxnLst/>
            <a:rect l="0" t="0" r="r" b="b"/>
            <a:pathLst>
              <a:path w="100" h="28000" fill="none" stroke="1">
                <a:moveTo>
                  <a:pt x="0" y="0"/>
                </a:moveTo>
                <a:lnTo>
                  <a:pt x="0" y="28000"/>
                </a:lnTo>
              </a:path>
            </a:pathLst>
          </a:custGeom>
          <a:ln w="21336">
            <a:solidFill>
              <a:srgbClr val="10121A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updated-tokens-to-velocity"/>
          <p:cNvCxnSpPr>
            <a:stCxn id="247" idx="2"/>
            <a:endCxn id="285" idx="0"/>
          </p:cNvCxnSpPr>
          <p:nvPr/>
        </p:nvCxnSpPr>
        <p:spPr>
          <a:xfrm>
            <a:off x="8625840" y="6073140"/>
            <a:ext cx="761" cy="190500"/>
          </a:xfrm>
          <a:custGeom>
            <a:avLst/>
            <a:gdLst/>
            <a:ahLst/>
            <a:cxnLst/>
            <a:rect l="0" t="0" r="r" b="b"/>
            <a:pathLst>
              <a:path w="100" h="25000" fill="none" stroke="1">
                <a:moveTo>
                  <a:pt x="0" y="0"/>
                </a:moveTo>
                <a:lnTo>
                  <a:pt x="0" y="25000"/>
                </a:lnTo>
              </a:path>
            </a:pathLst>
          </a:custGeom>
          <a:ln w="21336">
            <a:solidFill>
              <a:srgbClr val="10121A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velocity-to-flow"/>
          <p:cNvCxnSpPr>
            <a:stCxn id="285" idx="2"/>
            <a:endCxn id="347" idx="0"/>
          </p:cNvCxnSpPr>
          <p:nvPr/>
        </p:nvCxnSpPr>
        <p:spPr>
          <a:xfrm>
            <a:off x="4503420" y="6705600"/>
            <a:ext cx="3352800" cy="662939"/>
          </a:xfrm>
          <a:custGeom>
            <a:avLst/>
            <a:gdLst/>
            <a:ahLst/>
            <a:cxnLst/>
            <a:rect l="0" t="0" r="r" b="b"/>
            <a:pathLst>
              <a:path w="440000" h="87000" fill="none" stroke="1">
                <a:moveTo>
                  <a:pt x="440000" y="0"/>
                </a:moveTo>
                <a:lnTo>
                  <a:pt x="440000" y="46000"/>
                </a:lnTo>
                <a:lnTo>
                  <a:pt x="0" y="46000"/>
                </a:lnTo>
                <a:lnTo>
                  <a:pt x="0" y="87000"/>
                </a:lnTo>
              </a:path>
            </a:pathLst>
          </a:custGeom>
          <a:ln w="21336">
            <a:solidFill>
              <a:srgbClr val="10121A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urrent-to-flow"/>
          <p:cNvCxnSpPr>
            <a:stCxn id="180" idx="2"/>
            <a:endCxn id="347" idx="1"/>
          </p:cNvCxnSpPr>
          <p:nvPr/>
        </p:nvCxnSpPr>
        <p:spPr>
          <a:xfrm>
            <a:off x="1440180" y="7239000"/>
            <a:ext cx="861060" cy="609600"/>
          </a:xfrm>
          <a:custGeom>
            <a:avLst/>
            <a:gdLst/>
            <a:ahLst/>
            <a:cxnLst/>
            <a:rect l="0" t="0" r="r" b="b"/>
            <a:pathLst>
              <a:path w="113000" h="80000" fill="none" stroke="1">
                <a:moveTo>
                  <a:pt x="0" y="0"/>
                </a:moveTo>
                <a:lnTo>
                  <a:pt x="0" y="80000"/>
                </a:lnTo>
                <a:lnTo>
                  <a:pt x="113000" y="80000"/>
                </a:lnTo>
              </a:path>
            </a:pathLst>
          </a:custGeom>
          <a:ln w="22859">
            <a:solidFill>
              <a:srgbClr val="10121A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flow-to-projection"/>
          <p:cNvCxnSpPr>
            <a:stCxn id="347" idx="3"/>
            <a:endCxn id="420" idx="1"/>
          </p:cNvCxnSpPr>
          <p:nvPr/>
        </p:nvCxnSpPr>
        <p:spPr>
          <a:xfrm>
            <a:off x="5867400" y="7848600"/>
            <a:ext cx="381000" cy="761"/>
          </a:xfrm>
          <a:custGeom>
            <a:avLst/>
            <a:gdLst/>
            <a:ahLst/>
            <a:cxnLst/>
            <a:rect l="0" t="0" r="r" b="b"/>
            <a:pathLst>
              <a:path w="50000" h="100" fill="none" stroke="1">
                <a:moveTo>
                  <a:pt x="0" y="0"/>
                </a:moveTo>
                <a:lnTo>
                  <a:pt x="50000" y="0"/>
                </a:lnTo>
              </a:path>
            </a:pathLst>
          </a:custGeom>
          <a:ln w="22859">
            <a:solidFill>
              <a:srgbClr val="10121A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5" name="completion-gap-lower-port"/>
          <p:cNvSpPr/>
          <p:nvPr/>
        </p:nvSpPr>
        <p:spPr>
          <a:xfrm>
            <a:off x="7223379" y="7116699"/>
            <a:ext cx="762" cy="7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completion-gap-upper-port"/>
          <p:cNvSpPr/>
          <p:nvPr/>
        </p:nvSpPr>
        <p:spPr>
          <a:xfrm>
            <a:off x="7223379" y="6994779"/>
            <a:ext cx="762" cy="7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7" name="projection-to-completed-lower"/>
          <p:cNvCxnSpPr>
            <a:stCxn id="420" idx="0"/>
            <a:endCxn id="475" idx="2"/>
          </p:cNvCxnSpPr>
          <p:nvPr/>
        </p:nvCxnSpPr>
        <p:spPr>
          <a:xfrm>
            <a:off x="7223759" y="7117080"/>
            <a:ext cx="763" cy="259079"/>
          </a:xfrm>
          <a:custGeom>
            <a:avLst/>
            <a:gdLst/>
            <a:ahLst/>
            <a:cxnLst/>
            <a:rect l="0" t="0" r="r" b="b"/>
            <a:pathLst>
              <a:path w="100" h="34000" fill="none" stroke="1">
                <a:moveTo>
                  <a:pt x="0" y="34000"/>
                </a:moveTo>
                <a:lnTo>
                  <a:pt x="0" y="0"/>
                </a:lnTo>
              </a:path>
            </a:pathLst>
          </a:custGeom>
          <a:ln w="19050">
            <a:solidFill>
              <a:srgbClr val="718A9B"/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projection-to-completed-upper"/>
          <p:cNvCxnSpPr>
            <a:stCxn id="476" idx="0"/>
            <a:endCxn id="290" idx="3"/>
          </p:cNvCxnSpPr>
          <p:nvPr/>
        </p:nvCxnSpPr>
        <p:spPr>
          <a:xfrm>
            <a:off x="6324600" y="4853940"/>
            <a:ext cx="899159" cy="2141219"/>
          </a:xfrm>
          <a:custGeom>
            <a:avLst/>
            <a:gdLst/>
            <a:ahLst/>
            <a:cxnLst/>
            <a:rect l="0" t="0" r="r" b="b"/>
            <a:pathLst>
              <a:path w="118000" h="281000" fill="none" stroke="1">
                <a:moveTo>
                  <a:pt x="118000" y="281000"/>
                </a:moveTo>
                <a:lnTo>
                  <a:pt x="118000" y="14000"/>
                </a:lnTo>
                <a:lnTo>
                  <a:pt x="102000" y="0"/>
                </a:lnTo>
                <a:lnTo>
                  <a:pt x="0" y="0"/>
                </a:lnTo>
              </a:path>
            </a:pathLst>
          </a:custGeom>
          <a:ln w="19050">
            <a:solidFill>
              <a:srgbClr val="718A9B"/>
            </a:solidFill>
            <a:prstDash val="dash"/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latent-feedback-right"/>
          <p:cNvCxnSpPr/>
          <p:nvPr/>
        </p:nvCxnSpPr>
        <p:spPr>
          <a:xfrm>
            <a:off x="6248400" y="8389620"/>
            <a:ext cx="2849880" cy="259080"/>
          </a:xfrm>
          <a:custGeom>
            <a:avLst/>
            <a:gdLst/>
            <a:ahLst/>
            <a:cxnLst/>
            <a:rect l="0" t="0" r="r" b="b"/>
            <a:pathLst>
              <a:path w="374000" h="34000" fill="none" stroke="1">
                <a:moveTo>
                  <a:pt x="374000" y="0"/>
                </a:moveTo>
                <a:lnTo>
                  <a:pt x="374000" y="19000"/>
                </a:lnTo>
                <a:lnTo>
                  <a:pt x="360000" y="34000"/>
                </a:lnTo>
                <a:lnTo>
                  <a:pt x="0" y="34000"/>
                </a:lnTo>
              </a:path>
            </a:pathLst>
          </a:custGeom>
          <a:ln w="38100">
            <a:solidFill>
              <a:srgbClr val="FF783E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latent-feedback-left"/>
          <p:cNvCxnSpPr/>
          <p:nvPr/>
        </p:nvCxnSpPr>
        <p:spPr>
          <a:xfrm>
            <a:off x="1013460" y="7246620"/>
            <a:ext cx="2842259" cy="1402080"/>
          </a:xfrm>
          <a:custGeom>
            <a:avLst/>
            <a:gdLst/>
            <a:ahLst/>
            <a:cxnLst/>
            <a:rect l="0" t="0" r="r" b="b"/>
            <a:pathLst>
              <a:path w="373000" h="184000" fill="none" stroke="1">
                <a:moveTo>
                  <a:pt x="373000" y="184000"/>
                </a:moveTo>
                <a:lnTo>
                  <a:pt x="15000" y="184000"/>
                </a:lnTo>
                <a:lnTo>
                  <a:pt x="0" y="169000"/>
                </a:lnTo>
                <a:lnTo>
                  <a:pt x="0" y="0"/>
                </a:lnTo>
              </a:path>
            </a:pathLst>
          </a:custGeom>
          <a:ln w="38100">
            <a:solidFill>
              <a:srgbClr val="FF783E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